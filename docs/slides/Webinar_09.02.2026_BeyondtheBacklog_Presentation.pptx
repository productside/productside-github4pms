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lstStyle/>
          <a:p>
            <a:pPr algn="l">
              <a:defRPr sz="1600" b="1">
                <a:solidFill>
                  <a:srgbClr val="4ADE80"/>
                </a:solidFill>
                <a:latin typeface="Calibri"/>
              </a:defRPr>
            </a:pPr>
            <a:r>
              <a:t>FOR PEOPLE WHO CARE ABOUT PRODUCT CONTEXT, NOT BECOMING COMMAND-LINE EXPERTS.</a:t>
            </a:r>
          </a:p>
        </p:txBody>
      </p:sp>
      <p:sp>
        <p:nvSpPr>
          <p:cNvPr id="3" name="TextBox 2"/>
          <p:cNvSpPr txBox="1"/>
          <p:nvPr/>
        </p:nvSpPr>
        <p:spPr>
          <a:xfrm>
            <a:off x="731520" y="1463040"/>
            <a:ext cx="10058400" cy="2286000"/>
          </a:xfrm>
          <a:prstGeom prst="rect">
            <a:avLst/>
          </a:prstGeom>
          <a:noFill/>
        </p:spPr>
        <p:txBody>
          <a:bodyPr wrap="square"/>
          <a:lstStyle/>
          <a:p>
            <a:pPr algn="l">
              <a:defRPr sz="6000" b="1">
                <a:solidFill>
                  <a:srgbClr val="FFFFFF"/>
                </a:solidFill>
                <a:latin typeface="Calibri"/>
              </a:defRPr>
            </a:pPr>
            <a:r>
              <a:t>Git &amp; GitHub for</a:t>
            </a:r>
            <a:br/>
            <a:r>
              <a:t>Product Managers</a:t>
            </a:r>
          </a:p>
        </p:txBody>
      </p:sp>
      <p:sp>
        <p:nvSpPr>
          <p:cNvPr id="4" name="Rectangle 3"/>
          <p:cNvSpPr/>
          <p:nvPr/>
        </p:nvSpPr>
        <p:spPr>
          <a:xfrm>
            <a:off x="731520" y="4023360"/>
            <a:ext cx="73152" cy="1280160"/>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023360"/>
            <a:ext cx="9144000" cy="1280160"/>
          </a:xfrm>
          <a:prstGeom prst="rect">
            <a:avLst/>
          </a:prstGeom>
          <a:noFill/>
        </p:spPr>
        <p:txBody>
          <a:bodyPr wrap="square"/>
          <a:lstStyle/>
          <a:p>
            <a:pPr algn="l">
              <a:defRPr sz="3200" b="0">
                <a:solidFill>
                  <a:srgbClr val="F5E6CC"/>
                </a:solidFill>
                <a:latin typeface="Calibri"/>
              </a:defRPr>
            </a:pPr>
            <a:r>
              <a:t>A field guide to shared context,</a:t>
            </a:r>
            <a:br/>
            <a:r>
              <a:t>safely operated by AI.</a:t>
            </a:r>
          </a:p>
        </p:txBody>
      </p:sp>
      <p:sp>
        <p:nvSpPr>
          <p:cNvPr id="6" name="TextBox 5"/>
          <p:cNvSpPr txBox="1"/>
          <p:nvPr/>
        </p:nvSpPr>
        <p:spPr>
          <a:xfrm>
            <a:off x="731520" y="5669280"/>
            <a:ext cx="4572000" cy="457200"/>
          </a:xfrm>
          <a:prstGeom prst="rect">
            <a:avLst/>
          </a:prstGeom>
          <a:noFill/>
        </p:spPr>
        <p:txBody>
          <a:bodyPr wrap="square"/>
          <a:lstStyle/>
          <a:p>
            <a:pPr algn="l">
              <a:defRPr sz="1600" b="1">
                <a:solidFill>
                  <a:srgbClr val="4ADE80"/>
                </a:solidFill>
                <a:latin typeface="Calibri"/>
              </a:defRPr>
            </a:pPr>
            <a:r>
              <a:t>Productside</a:t>
            </a:r>
          </a:p>
        </p:txBody>
      </p:sp>
      <p:sp>
        <p:nvSpPr>
          <p:cNvPr id="7" name="TextBox 6"/>
          <p:cNvSpPr txBox="1"/>
          <p:nvPr/>
        </p:nvSpPr>
        <p:spPr>
          <a:xfrm>
            <a:off x="731520" y="6035040"/>
            <a:ext cx="7315200" cy="365760"/>
          </a:xfrm>
          <a:prstGeom prst="rect">
            <a:avLst/>
          </a:prstGeom>
          <a:noFill/>
        </p:spPr>
        <p:txBody>
          <a:bodyPr wrap="square"/>
          <a:lstStyle/>
          <a:p>
            <a:pPr algn="l">
              <a:defRPr sz="1400" b="0">
                <a:solidFill>
                  <a:srgbClr val="999999"/>
                </a:solidFill>
                <a:latin typeface="Calibri"/>
              </a:defRPr>
            </a:pPr>
            <a:r>
              <a:t>September 2, 2026  ·  Dean Peters &amp; Kenny Kranseler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TextBox 1"/>
          <p:cNvSpPr txBox="1"/>
          <p:nvPr/>
        </p:nvSpPr>
        <p:spPr>
          <a:xfrm>
            <a:off x="731520" y="457200"/>
            <a:ext cx="10515600" cy="1097280"/>
          </a:xfrm>
          <a:prstGeom prst="rect">
            <a:avLst/>
          </a:prstGeom>
          <a:noFill/>
        </p:spPr>
        <p:txBody>
          <a:bodyPr wrap="square"/>
          <a:lstStyle/>
          <a:p>
            <a:pPr algn="l">
              <a:defRPr sz="4000" b="1">
                <a:solidFill>
                  <a:srgbClr val="0B3D2E"/>
                </a:solidFill>
                <a:latin typeface="Calibri"/>
              </a:defRPr>
            </a:pPr>
            <a:r>
              <a:t>The hard problem is not creating another document.</a:t>
            </a:r>
          </a:p>
        </p:txBody>
      </p:sp>
      <p:sp>
        <p:nvSpPr>
          <p:cNvPr id="3" name="TextBox 2"/>
          <p:cNvSpPr txBox="1"/>
          <p:nvPr/>
        </p:nvSpPr>
        <p:spPr>
          <a:xfrm>
            <a:off x="731520" y="1554480"/>
            <a:ext cx="10515600" cy="731520"/>
          </a:xfrm>
          <a:prstGeom prst="rect">
            <a:avLst/>
          </a:prstGeom>
          <a:noFill/>
        </p:spPr>
        <p:txBody>
          <a:bodyPr wrap="square"/>
          <a:lstStyle/>
          <a:p>
            <a:pPr algn="l">
              <a:defRPr sz="2000" b="0">
                <a:solidFill>
                  <a:srgbClr val="000000"/>
                </a:solidFill>
                <a:latin typeface="Calibri"/>
              </a:defRPr>
            </a:pPr>
            <a:r>
              <a:t>It is keeping the product team oriented while the context changes. Research challenges assumptions. Strategy moves. Decisions get revisited. AI generates alternatives.</a:t>
            </a:r>
          </a:p>
        </p:txBody>
      </p:sp>
      <p:sp>
        <p:nvSpPr>
          <p:cNvPr id="4" name="Rounded Rectangle 3"/>
          <p:cNvSpPr/>
          <p:nvPr/>
        </p:nvSpPr>
        <p:spPr>
          <a:xfrm>
            <a:off x="731520" y="2560320"/>
            <a:ext cx="50292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743200"/>
            <a:ext cx="4389120" cy="3108960"/>
          </a:xfrm>
          <a:prstGeom prst="rect">
            <a:avLst/>
          </a:prstGeom>
          <a:noFill/>
        </p:spPr>
        <p:txBody>
          <a:bodyPr wrap="square"/>
          <a:lstStyle/>
          <a:p>
            <a:pPr algn="l">
              <a:defRPr sz="2200" b="1">
                <a:solidFill>
                  <a:srgbClr val="000000"/>
                </a:solidFill>
                <a:latin typeface="Calibri"/>
              </a:defRPr>
            </a:pPr>
            <a:r>
              <a:t>What goes wrong</a:t>
            </a:r>
          </a:p>
          <a:p>
            <a:pPr algn="l">
              <a:spcBef>
                <a:spcPts val="1200"/>
              </a:spcBef>
              <a:defRPr sz="1600" b="0">
                <a:solidFill>
                  <a:srgbClr val="000000"/>
                </a:solidFill>
                <a:latin typeface="Calibri"/>
              </a:defRPr>
            </a:pPr>
            <a:r>
              <a:t>•  FINAL_v7.docx, mysterious edits, lost history</a:t>
            </a:r>
          </a:p>
          <a:p>
            <a:pPr algn="l">
              <a:spcBef>
                <a:spcPts val="1200"/>
              </a:spcBef>
              <a:defRPr sz="1600" b="0">
                <a:solidFill>
                  <a:srgbClr val="000000"/>
                </a:solidFill>
                <a:latin typeface="Calibri"/>
              </a:defRPr>
            </a:pPr>
            <a:r>
              <a:t>•  Scattered across Notion, Slack, Drive, email</a:t>
            </a:r>
          </a:p>
          <a:p>
            <a:pPr algn="l">
              <a:spcBef>
                <a:spcPts val="1200"/>
              </a:spcBef>
              <a:defRPr sz="1600" b="0">
                <a:solidFill>
                  <a:srgbClr val="000000"/>
                </a:solidFill>
                <a:latin typeface="Calibri"/>
              </a:defRPr>
            </a:pPr>
            <a:r>
              <a:t>•  Every AI session starts from zero</a:t>
            </a:r>
          </a:p>
          <a:p>
            <a:pPr algn="l">
              <a:spcBef>
                <a:spcPts val="1200"/>
              </a:spcBef>
              <a:defRPr sz="1600" b="0">
                <a:solidFill>
                  <a:srgbClr val="000000"/>
                </a:solidFill>
                <a:latin typeface="Calibri"/>
              </a:defRPr>
            </a:pPr>
            <a:r>
              <a:t>•  No one knows what changed or why</a:t>
            </a:r>
          </a:p>
        </p:txBody>
      </p:sp>
      <p:sp>
        <p:nvSpPr>
          <p:cNvPr id="6" name="Rounded Rectangle 5"/>
          <p:cNvSpPr/>
          <p:nvPr/>
        </p:nvSpPr>
        <p:spPr>
          <a:xfrm>
            <a:off x="6400800" y="2560320"/>
            <a:ext cx="5029200" cy="347472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2743200"/>
            <a:ext cx="4389120" cy="3108960"/>
          </a:xfrm>
          <a:prstGeom prst="rect">
            <a:avLst/>
          </a:prstGeom>
          <a:noFill/>
        </p:spPr>
        <p:txBody>
          <a:bodyPr wrap="square"/>
          <a:lstStyle/>
          <a:p>
            <a:pPr algn="l">
              <a:defRPr sz="2200" b="1">
                <a:solidFill>
                  <a:srgbClr val="4ADE80"/>
                </a:solidFill>
                <a:latin typeface="Calibri"/>
              </a:defRPr>
            </a:pPr>
            <a:r>
              <a:t>What should happen instead</a:t>
            </a:r>
          </a:p>
          <a:p>
            <a:pPr algn="l">
              <a:spcBef>
                <a:spcPts val="1200"/>
              </a:spcBef>
              <a:defRPr sz="1600" b="0">
                <a:solidFill>
                  <a:srgbClr val="FFFFFF"/>
                </a:solidFill>
                <a:latin typeface="Calibri"/>
              </a:defRPr>
            </a:pPr>
            <a:r>
              <a:t>•  What changed? Why? When? Who changed it?</a:t>
            </a:r>
          </a:p>
          <a:p>
            <a:pPr algn="l">
              <a:spcBef>
                <a:spcPts val="1200"/>
              </a:spcBef>
              <a:defRPr sz="1600" b="0">
                <a:solidFill>
                  <a:srgbClr val="FFFFFF"/>
                </a:solidFill>
                <a:latin typeface="Calibri"/>
              </a:defRPr>
            </a:pPr>
            <a:r>
              <a:t>•  What did we decide? What alternatives did we reject?</a:t>
            </a:r>
          </a:p>
          <a:p>
            <a:pPr algn="l">
              <a:spcBef>
                <a:spcPts val="1200"/>
              </a:spcBef>
              <a:defRPr sz="1600" b="0">
                <a:solidFill>
                  <a:srgbClr val="FFFFFF"/>
                </a:solidFill>
                <a:latin typeface="Calibri"/>
              </a:defRPr>
            </a:pPr>
            <a:r>
              <a:t>•  Can I explore something new without stepping on everyone else's work?</a:t>
            </a:r>
          </a:p>
          <a:p>
            <a:pPr algn="l">
              <a:spcBef>
                <a:spcPts val="1200"/>
              </a:spcBef>
              <a:defRPr sz="1600" b="0">
                <a:solidFill>
                  <a:srgbClr val="FFFFFF"/>
                </a:solidFill>
                <a:latin typeface="Calibri"/>
              </a:defRPr>
            </a:pPr>
            <a:r>
              <a:t>•  What does the team trust now?</a:t>
            </a:r>
          </a:p>
        </p:txBody>
      </p:sp>
      <p:sp>
        <p:nvSpPr>
          <p:cNvPr id="8" name="TextBox 7"/>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TextBox 1"/>
          <p:cNvSpPr txBox="1"/>
          <p:nvPr/>
        </p:nvSpPr>
        <p:spPr>
          <a:xfrm>
            <a:off x="731520" y="365760"/>
            <a:ext cx="10515600" cy="914400"/>
          </a:xfrm>
          <a:prstGeom prst="rect">
            <a:avLst/>
          </a:prstGeom>
          <a:noFill/>
        </p:spPr>
        <p:txBody>
          <a:bodyPr wrap="square"/>
          <a:lstStyle/>
          <a:p>
            <a:pPr algn="l">
              <a:defRPr sz="4000" b="1">
                <a:solidFill>
                  <a:srgbClr val="0B3D2E"/>
                </a:solidFill>
                <a:latin typeface="Calibri"/>
              </a:defRPr>
            </a:pPr>
            <a:r>
              <a:t>You are the operator. The AI is the mechanic.</a:t>
            </a:r>
          </a:p>
        </p:txBody>
      </p:sp>
      <p:sp>
        <p:nvSpPr>
          <p:cNvPr id="3" name="Rounded Rectangle 2"/>
          <p:cNvSpPr/>
          <p:nvPr/>
        </p:nvSpPr>
        <p:spPr>
          <a:xfrm>
            <a:off x="731520" y="1645920"/>
            <a:ext cx="3291840" cy="2286000"/>
          </a:xfrm>
          <a:prstGeom prst="roundRect">
            <a:avLst/>
          </a:prstGeom>
          <a:solidFill>
            <a:srgbClr val="E8E8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2743200" cy="2103120"/>
          </a:xfrm>
          <a:prstGeom prst="rect">
            <a:avLst/>
          </a:prstGeom>
          <a:noFill/>
        </p:spPr>
        <p:txBody>
          <a:bodyPr wrap="square"/>
          <a:lstStyle/>
          <a:p>
            <a:pPr algn="l">
              <a:defRPr sz="2200" b="1">
                <a:solidFill>
                  <a:srgbClr val="0B3D2E"/>
                </a:solidFill>
                <a:latin typeface="Calibri"/>
              </a:defRPr>
            </a:pPr>
            <a:r>
              <a:t>The Machinery (Git)</a:t>
            </a:r>
          </a:p>
          <a:p>
            <a:pPr algn="l">
              <a:spcBef>
                <a:spcPts val="1200"/>
              </a:spcBef>
              <a:defRPr sz="1500" b="0">
                <a:solidFill>
                  <a:srgbClr val="000000"/>
                </a:solidFill>
                <a:latin typeface="Calibri"/>
              </a:defRPr>
            </a:pPr>
            <a:r>
              <a:t>Tracks changes, branches, commits, merges, and history locally.</a:t>
            </a:r>
          </a:p>
        </p:txBody>
      </p:sp>
      <p:sp>
        <p:nvSpPr>
          <p:cNvPr id="5" name="Rounded Rectangle 4"/>
          <p:cNvSpPr/>
          <p:nvPr/>
        </p:nvSpPr>
        <p:spPr>
          <a:xfrm>
            <a:off x="8138160" y="1645920"/>
            <a:ext cx="3291840" cy="2286000"/>
          </a:xfrm>
          <a:prstGeom prst="roundRect">
            <a:avLst/>
          </a:prstGeom>
          <a:solidFill>
            <a:srgbClr val="E8E8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1737360"/>
            <a:ext cx="2743200" cy="2103120"/>
          </a:xfrm>
          <a:prstGeom prst="rect">
            <a:avLst/>
          </a:prstGeom>
          <a:noFill/>
        </p:spPr>
        <p:txBody>
          <a:bodyPr wrap="square"/>
          <a:lstStyle/>
          <a:p>
            <a:pPr algn="l">
              <a:defRPr sz="2200" b="1">
                <a:solidFill>
                  <a:srgbClr val="0B3D2E"/>
                </a:solidFill>
                <a:latin typeface="Calibri"/>
              </a:defRPr>
            </a:pPr>
            <a:r>
              <a:t>The Workspace (GitHub)</a:t>
            </a:r>
          </a:p>
          <a:p>
            <a:pPr algn="l">
              <a:spcBef>
                <a:spcPts val="1200"/>
              </a:spcBef>
              <a:defRPr sz="1500" b="0">
                <a:solidFill>
                  <a:srgbClr val="000000"/>
                </a:solidFill>
                <a:latin typeface="Calibri"/>
              </a:defRPr>
            </a:pPr>
            <a:r>
              <a:t>The shared online workspace adding review, discussion, permissions, and automation.</a:t>
            </a:r>
          </a:p>
        </p:txBody>
      </p:sp>
      <p:sp>
        <p:nvSpPr>
          <p:cNvPr id="7" name="Rounded Rectangle 6"/>
          <p:cNvSpPr/>
          <p:nvPr/>
        </p:nvSpPr>
        <p:spPr>
          <a:xfrm>
            <a:off x="3657600" y="2377440"/>
            <a:ext cx="4846320" cy="27432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0" y="2468880"/>
            <a:ext cx="4114800" cy="2560320"/>
          </a:xfrm>
          <a:prstGeom prst="rect">
            <a:avLst/>
          </a:prstGeom>
          <a:noFill/>
        </p:spPr>
        <p:txBody>
          <a:bodyPr wrap="square"/>
          <a:lstStyle/>
          <a:p>
            <a:pPr algn="l">
              <a:defRPr sz="2400" b="1">
                <a:solidFill>
                  <a:srgbClr val="4ADE80"/>
                </a:solidFill>
                <a:latin typeface="Calibri"/>
              </a:defRPr>
            </a:pPr>
            <a:r>
              <a:t>The Operator &amp; Mechanic</a:t>
            </a:r>
          </a:p>
          <a:p>
            <a:pPr algn="l">
              <a:spcBef>
                <a:spcPts val="1200"/>
              </a:spcBef>
              <a:defRPr sz="1800" b="0">
                <a:solidFill>
                  <a:srgbClr val="FFFFFF"/>
                </a:solidFill>
                <a:latin typeface="Calibri"/>
              </a:defRPr>
            </a:pPr>
            <a:r>
              <a:t>AI Harness (Claude Code / Codex)</a:t>
            </a:r>
          </a:p>
          <a:p>
            <a:pPr algn="l">
              <a:spcBef>
                <a:spcPts val="1200"/>
              </a:spcBef>
              <a:defRPr sz="1600" b="0">
                <a:solidFill>
                  <a:srgbClr val="FFFFFF"/>
                </a:solidFill>
                <a:latin typeface="Calibri"/>
              </a:defRPr>
            </a:pPr>
            <a:r>
              <a:t>Operates the machinery for you. You don't need to know the command line; you just need to know what outcome to ask for.</a:t>
            </a:r>
          </a:p>
        </p:txBody>
      </p:sp>
      <p:sp>
        <p:nvSpPr>
          <p:cNvPr id="9" name="TextBox 8"/>
          <p:cNvSpPr txBox="1"/>
          <p:nvPr/>
        </p:nvSpPr>
        <p:spPr>
          <a:xfrm>
            <a:off x="914400" y="5486400"/>
            <a:ext cx="10058400" cy="548640"/>
          </a:xfrm>
          <a:prstGeom prst="rect">
            <a:avLst/>
          </a:prstGeom>
          <a:noFill/>
        </p:spPr>
        <p:txBody>
          <a:bodyPr wrap="square"/>
          <a:lstStyle/>
          <a:p>
            <a:pPr algn="l">
              <a:defRPr sz="1600" b="0">
                <a:solidFill>
                  <a:srgbClr val="000000"/>
                </a:solidFill>
                <a:latin typeface="Calibri"/>
              </a:defRPr>
            </a:pPr>
            <a:r>
              <a:t>Nobody is being asked to become a developer. Kenny says sentences; an AI assistant does the git part.</a:t>
            </a:r>
          </a:p>
        </p:txBody>
      </p:sp>
      <p:sp>
        <p:nvSpPr>
          <p:cNvPr id="10" name="TextBox 9"/>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TextBox 1"/>
          <p:cNvSpPr txBox="1"/>
          <p:nvPr/>
        </p:nvSpPr>
        <p:spPr>
          <a:xfrm>
            <a:off x="731520" y="365760"/>
            <a:ext cx="10515600" cy="914400"/>
          </a:xfrm>
          <a:prstGeom prst="rect">
            <a:avLst/>
          </a:prstGeom>
          <a:noFill/>
        </p:spPr>
        <p:txBody>
          <a:bodyPr wrap="square"/>
          <a:lstStyle/>
          <a:p>
            <a:pPr algn="l">
              <a:defRPr sz="3600" b="1">
                <a:solidFill>
                  <a:srgbClr val="0B3D2E"/>
                </a:solidFill>
                <a:latin typeface="Calibri"/>
              </a:defRPr>
            </a:pPr>
            <a:r>
              <a:t>You only need enough Git vocabulary to ask for the outcome.</a:t>
            </a:r>
          </a:p>
        </p:txBody>
      </p:sp>
      <p:sp>
        <p:nvSpPr>
          <p:cNvPr id="3" name="Rectangle 2"/>
          <p:cNvSpPr/>
          <p:nvPr/>
        </p:nvSpPr>
        <p:spPr>
          <a:xfrm>
            <a:off x="914400" y="1463040"/>
            <a:ext cx="10332720" cy="56692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513840"/>
            <a:ext cx="2743200" cy="465328"/>
          </a:xfrm>
          <a:prstGeom prst="rect">
            <a:avLst/>
          </a:prstGeom>
          <a:noFill/>
        </p:spPr>
        <p:txBody>
          <a:bodyPr wrap="square"/>
          <a:lstStyle/>
          <a:p>
            <a:pPr algn="ctr">
              <a:defRPr sz="1800" b="1">
                <a:solidFill>
                  <a:srgbClr val="FFFFFF"/>
                </a:solidFill>
                <a:latin typeface="Calibri"/>
              </a:defRPr>
            </a:pPr>
            <a:r>
              <a:t>Repository</a:t>
            </a:r>
          </a:p>
        </p:txBody>
      </p:sp>
      <p:sp>
        <p:nvSpPr>
          <p:cNvPr id="5" name="TextBox 4"/>
          <p:cNvSpPr txBox="1"/>
          <p:nvPr/>
        </p:nvSpPr>
        <p:spPr>
          <a:xfrm>
            <a:off x="4114800" y="1513840"/>
            <a:ext cx="6858000" cy="465328"/>
          </a:xfrm>
          <a:prstGeom prst="rect">
            <a:avLst/>
          </a:prstGeom>
          <a:noFill/>
        </p:spPr>
        <p:txBody>
          <a:bodyPr wrap="square"/>
          <a:lstStyle/>
          <a:p>
            <a:pPr algn="l">
              <a:defRPr sz="1600" b="0">
                <a:solidFill>
                  <a:srgbClr val="FFFFFF"/>
                </a:solidFill>
                <a:latin typeface="Calibri"/>
              </a:defRPr>
            </a:pPr>
            <a:r>
              <a:t>A versioned workspace containing the team's product context</a:t>
            </a:r>
          </a:p>
        </p:txBody>
      </p:sp>
      <p:sp>
        <p:nvSpPr>
          <p:cNvPr id="6" name="Rectangle 5"/>
          <p:cNvSpPr/>
          <p:nvPr/>
        </p:nvSpPr>
        <p:spPr>
          <a:xfrm>
            <a:off x="914400" y="2029968"/>
            <a:ext cx="10332720" cy="566928"/>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080768"/>
            <a:ext cx="2743200" cy="465328"/>
          </a:xfrm>
          <a:prstGeom prst="rect">
            <a:avLst/>
          </a:prstGeom>
          <a:noFill/>
        </p:spPr>
        <p:txBody>
          <a:bodyPr wrap="square"/>
          <a:lstStyle/>
          <a:p>
            <a:pPr algn="ctr">
              <a:defRPr sz="1800" b="1">
                <a:solidFill>
                  <a:srgbClr val="FFFFFF"/>
                </a:solidFill>
                <a:latin typeface="Calibri"/>
              </a:defRPr>
            </a:pPr>
            <a:r>
              <a:t>Clone</a:t>
            </a:r>
          </a:p>
        </p:txBody>
      </p:sp>
      <p:sp>
        <p:nvSpPr>
          <p:cNvPr id="8" name="TextBox 7"/>
          <p:cNvSpPr txBox="1"/>
          <p:nvPr/>
        </p:nvSpPr>
        <p:spPr>
          <a:xfrm>
            <a:off x="4114800" y="2080768"/>
            <a:ext cx="6858000" cy="465328"/>
          </a:xfrm>
          <a:prstGeom prst="rect">
            <a:avLst/>
          </a:prstGeom>
          <a:noFill/>
        </p:spPr>
        <p:txBody>
          <a:bodyPr wrap="square"/>
          <a:lstStyle/>
          <a:p>
            <a:pPr algn="l">
              <a:defRPr sz="1600" b="0">
                <a:solidFill>
                  <a:srgbClr val="FFFFFF"/>
                </a:solidFill>
                <a:latin typeface="Calibri"/>
              </a:defRPr>
            </a:pPr>
            <a:r>
              <a:t>Bring a shared repository onto my computer</a:t>
            </a:r>
          </a:p>
        </p:txBody>
      </p:sp>
      <p:sp>
        <p:nvSpPr>
          <p:cNvPr id="9" name="Rectangle 8"/>
          <p:cNvSpPr/>
          <p:nvPr/>
        </p:nvSpPr>
        <p:spPr>
          <a:xfrm>
            <a:off x="914400" y="2596896"/>
            <a:ext cx="10332720" cy="56692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647696"/>
            <a:ext cx="2743200" cy="465328"/>
          </a:xfrm>
          <a:prstGeom prst="rect">
            <a:avLst/>
          </a:prstGeom>
          <a:noFill/>
        </p:spPr>
        <p:txBody>
          <a:bodyPr wrap="square"/>
          <a:lstStyle/>
          <a:p>
            <a:pPr algn="ctr">
              <a:defRPr sz="1800" b="1">
                <a:solidFill>
                  <a:srgbClr val="FFFFFF"/>
                </a:solidFill>
                <a:latin typeface="Calibri"/>
              </a:defRPr>
            </a:pPr>
            <a:r>
              <a:t>Pull / Push</a:t>
            </a:r>
          </a:p>
        </p:txBody>
      </p:sp>
      <p:sp>
        <p:nvSpPr>
          <p:cNvPr id="11" name="TextBox 10"/>
          <p:cNvSpPr txBox="1"/>
          <p:nvPr/>
        </p:nvSpPr>
        <p:spPr>
          <a:xfrm>
            <a:off x="4114800" y="2647696"/>
            <a:ext cx="6858000" cy="465328"/>
          </a:xfrm>
          <a:prstGeom prst="rect">
            <a:avLst/>
          </a:prstGeom>
          <a:noFill/>
        </p:spPr>
        <p:txBody>
          <a:bodyPr wrap="square"/>
          <a:lstStyle/>
          <a:p>
            <a:pPr algn="l">
              <a:defRPr sz="1600" b="0">
                <a:solidFill>
                  <a:srgbClr val="FFFFFF"/>
                </a:solidFill>
                <a:latin typeface="Calibri"/>
              </a:defRPr>
            </a:pPr>
            <a:r>
              <a:t>Bring the latest shared changes down to me / Share my local changes back</a:t>
            </a:r>
          </a:p>
        </p:txBody>
      </p:sp>
      <p:sp>
        <p:nvSpPr>
          <p:cNvPr id="12" name="Rectangle 11"/>
          <p:cNvSpPr/>
          <p:nvPr/>
        </p:nvSpPr>
        <p:spPr>
          <a:xfrm>
            <a:off x="914400" y="3163824"/>
            <a:ext cx="10332720" cy="566928"/>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214624"/>
            <a:ext cx="2743200" cy="465328"/>
          </a:xfrm>
          <a:prstGeom prst="rect">
            <a:avLst/>
          </a:prstGeom>
          <a:noFill/>
        </p:spPr>
        <p:txBody>
          <a:bodyPr wrap="square"/>
          <a:lstStyle/>
          <a:p>
            <a:pPr algn="ctr">
              <a:defRPr sz="1800" b="1">
                <a:solidFill>
                  <a:srgbClr val="FFFFFF"/>
                </a:solidFill>
                <a:latin typeface="Calibri"/>
              </a:defRPr>
            </a:pPr>
            <a:r>
              <a:t>Branch</a:t>
            </a:r>
          </a:p>
        </p:txBody>
      </p:sp>
      <p:sp>
        <p:nvSpPr>
          <p:cNvPr id="14" name="TextBox 13"/>
          <p:cNvSpPr txBox="1"/>
          <p:nvPr/>
        </p:nvSpPr>
        <p:spPr>
          <a:xfrm>
            <a:off x="4114800" y="3214624"/>
            <a:ext cx="6858000" cy="465328"/>
          </a:xfrm>
          <a:prstGeom prst="rect">
            <a:avLst/>
          </a:prstGeom>
          <a:noFill/>
        </p:spPr>
        <p:txBody>
          <a:bodyPr wrap="square"/>
          <a:lstStyle/>
          <a:p>
            <a:pPr algn="l">
              <a:defRPr sz="1600" b="0">
                <a:solidFill>
                  <a:srgbClr val="FFFFFF"/>
                </a:solidFill>
                <a:latin typeface="Calibri"/>
              </a:defRPr>
            </a:pPr>
            <a:r>
              <a:t>Give me a safe parallel workspace for an alternative</a:t>
            </a:r>
          </a:p>
        </p:txBody>
      </p:sp>
      <p:sp>
        <p:nvSpPr>
          <p:cNvPr id="15" name="Rectangle 14"/>
          <p:cNvSpPr/>
          <p:nvPr/>
        </p:nvSpPr>
        <p:spPr>
          <a:xfrm>
            <a:off x="914400" y="3730752"/>
            <a:ext cx="10332720" cy="56692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781552"/>
            <a:ext cx="2743200" cy="465328"/>
          </a:xfrm>
          <a:prstGeom prst="rect">
            <a:avLst/>
          </a:prstGeom>
          <a:noFill/>
        </p:spPr>
        <p:txBody>
          <a:bodyPr wrap="square"/>
          <a:lstStyle/>
          <a:p>
            <a:pPr algn="ctr">
              <a:defRPr sz="1800" b="1">
                <a:solidFill>
                  <a:srgbClr val="FFFFFF"/>
                </a:solidFill>
                <a:latin typeface="Calibri"/>
              </a:defRPr>
            </a:pPr>
            <a:r>
              <a:t>Commit</a:t>
            </a:r>
          </a:p>
        </p:txBody>
      </p:sp>
      <p:sp>
        <p:nvSpPr>
          <p:cNvPr id="17" name="TextBox 16"/>
          <p:cNvSpPr txBox="1"/>
          <p:nvPr/>
        </p:nvSpPr>
        <p:spPr>
          <a:xfrm>
            <a:off x="4114800" y="3781552"/>
            <a:ext cx="6858000" cy="465328"/>
          </a:xfrm>
          <a:prstGeom prst="rect">
            <a:avLst/>
          </a:prstGeom>
          <a:noFill/>
        </p:spPr>
        <p:txBody>
          <a:bodyPr wrap="square"/>
          <a:lstStyle/>
          <a:p>
            <a:pPr algn="l">
              <a:defRPr sz="1600" b="0">
                <a:solidFill>
                  <a:srgbClr val="FFFFFF"/>
                </a:solidFill>
                <a:latin typeface="Calibri"/>
              </a:defRPr>
            </a:pPr>
            <a:r>
              <a:t>Preserve a meaningful checkpoint and the reason for it</a:t>
            </a:r>
          </a:p>
        </p:txBody>
      </p:sp>
      <p:sp>
        <p:nvSpPr>
          <p:cNvPr id="18" name="Rectangle 17"/>
          <p:cNvSpPr/>
          <p:nvPr/>
        </p:nvSpPr>
        <p:spPr>
          <a:xfrm>
            <a:off x="914400" y="4297680"/>
            <a:ext cx="10332720" cy="566928"/>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8480"/>
            <a:ext cx="2743200" cy="465328"/>
          </a:xfrm>
          <a:prstGeom prst="rect">
            <a:avLst/>
          </a:prstGeom>
          <a:noFill/>
        </p:spPr>
        <p:txBody>
          <a:bodyPr wrap="square"/>
          <a:lstStyle/>
          <a:p>
            <a:pPr algn="ctr">
              <a:defRPr sz="1800" b="1">
                <a:solidFill>
                  <a:srgbClr val="FFFFFF"/>
                </a:solidFill>
                <a:latin typeface="Calibri"/>
              </a:defRPr>
            </a:pPr>
            <a:r>
              <a:t>Diff</a:t>
            </a:r>
          </a:p>
        </p:txBody>
      </p:sp>
      <p:sp>
        <p:nvSpPr>
          <p:cNvPr id="20" name="TextBox 19"/>
          <p:cNvSpPr txBox="1"/>
          <p:nvPr/>
        </p:nvSpPr>
        <p:spPr>
          <a:xfrm>
            <a:off x="4114800" y="4348480"/>
            <a:ext cx="6858000" cy="465328"/>
          </a:xfrm>
          <a:prstGeom prst="rect">
            <a:avLst/>
          </a:prstGeom>
          <a:noFill/>
        </p:spPr>
        <p:txBody>
          <a:bodyPr wrap="square"/>
          <a:lstStyle/>
          <a:p>
            <a:pPr algn="l">
              <a:defRPr sz="1600" b="0">
                <a:solidFill>
                  <a:srgbClr val="FFFFFF"/>
                </a:solidFill>
                <a:latin typeface="Calibri"/>
              </a:defRPr>
            </a:pPr>
            <a:r>
              <a:t>Show me exactly what changed</a:t>
            </a:r>
          </a:p>
        </p:txBody>
      </p:sp>
      <p:sp>
        <p:nvSpPr>
          <p:cNvPr id="21" name="Rectangle 20"/>
          <p:cNvSpPr/>
          <p:nvPr/>
        </p:nvSpPr>
        <p:spPr>
          <a:xfrm>
            <a:off x="914400" y="4864608"/>
            <a:ext cx="10332720" cy="56692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915408"/>
            <a:ext cx="2743200" cy="465328"/>
          </a:xfrm>
          <a:prstGeom prst="rect">
            <a:avLst/>
          </a:prstGeom>
          <a:noFill/>
        </p:spPr>
        <p:txBody>
          <a:bodyPr wrap="square"/>
          <a:lstStyle/>
          <a:p>
            <a:pPr algn="ctr">
              <a:defRPr sz="1800" b="1">
                <a:solidFill>
                  <a:srgbClr val="FFFFFF"/>
                </a:solidFill>
                <a:latin typeface="Calibri"/>
              </a:defRPr>
            </a:pPr>
            <a:r>
              <a:t>Pull Request</a:t>
            </a:r>
          </a:p>
        </p:txBody>
      </p:sp>
      <p:sp>
        <p:nvSpPr>
          <p:cNvPr id="23" name="TextBox 22"/>
          <p:cNvSpPr txBox="1"/>
          <p:nvPr/>
        </p:nvSpPr>
        <p:spPr>
          <a:xfrm>
            <a:off x="4114800" y="4915408"/>
            <a:ext cx="6858000" cy="465328"/>
          </a:xfrm>
          <a:prstGeom prst="rect">
            <a:avLst/>
          </a:prstGeom>
          <a:noFill/>
        </p:spPr>
        <p:txBody>
          <a:bodyPr wrap="square"/>
          <a:lstStyle/>
          <a:p>
            <a:pPr algn="l">
              <a:defRPr sz="1600" b="0">
                <a:solidFill>
                  <a:srgbClr val="FFFFFF"/>
                </a:solidFill>
                <a:latin typeface="Calibri"/>
              </a:defRPr>
            </a:pPr>
            <a:r>
              <a:t>Ask the team to review a proposed change before accepting it</a:t>
            </a:r>
          </a:p>
        </p:txBody>
      </p:sp>
      <p:sp>
        <p:nvSpPr>
          <p:cNvPr id="24" name="Rectangle 23"/>
          <p:cNvSpPr/>
          <p:nvPr/>
        </p:nvSpPr>
        <p:spPr>
          <a:xfrm>
            <a:off x="914400" y="5431536"/>
            <a:ext cx="10332720" cy="566928"/>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482336"/>
            <a:ext cx="2743200" cy="465328"/>
          </a:xfrm>
          <a:prstGeom prst="rect">
            <a:avLst/>
          </a:prstGeom>
          <a:noFill/>
        </p:spPr>
        <p:txBody>
          <a:bodyPr wrap="square"/>
          <a:lstStyle/>
          <a:p>
            <a:pPr algn="ctr">
              <a:defRPr sz="1800" b="1">
                <a:solidFill>
                  <a:srgbClr val="FFFFFF"/>
                </a:solidFill>
                <a:latin typeface="Calibri"/>
              </a:defRPr>
            </a:pPr>
            <a:r>
              <a:t>Fork</a:t>
            </a:r>
          </a:p>
        </p:txBody>
      </p:sp>
      <p:sp>
        <p:nvSpPr>
          <p:cNvPr id="26" name="TextBox 25"/>
          <p:cNvSpPr txBox="1"/>
          <p:nvPr/>
        </p:nvSpPr>
        <p:spPr>
          <a:xfrm>
            <a:off x="4114800" y="5482336"/>
            <a:ext cx="6858000" cy="465328"/>
          </a:xfrm>
          <a:prstGeom prst="rect">
            <a:avLst/>
          </a:prstGeom>
          <a:noFill/>
        </p:spPr>
        <p:txBody>
          <a:bodyPr wrap="square"/>
          <a:lstStyle/>
          <a:p>
            <a:pPr algn="l">
              <a:defRPr sz="1600" b="0">
                <a:solidFill>
                  <a:srgbClr val="FFFFFF"/>
                </a:solidFill>
                <a:latin typeface="Calibri"/>
              </a:defRPr>
            </a:pPr>
            <a:r>
              <a:t>Give me my own copy of someone else's repository to evolve safely</a:t>
            </a:r>
          </a:p>
        </p:txBody>
      </p:sp>
      <p:sp>
        <p:nvSpPr>
          <p:cNvPr id="27" name="Rectangle 26"/>
          <p:cNvSpPr/>
          <p:nvPr/>
        </p:nvSpPr>
        <p:spPr>
          <a:xfrm>
            <a:off x="914400" y="1097280"/>
            <a:ext cx="10332720" cy="3657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1097280"/>
            <a:ext cx="2743200" cy="365760"/>
          </a:xfrm>
          <a:prstGeom prst="rect">
            <a:avLst/>
          </a:prstGeom>
          <a:noFill/>
        </p:spPr>
        <p:txBody>
          <a:bodyPr wrap="square"/>
          <a:lstStyle/>
          <a:p>
            <a:pPr algn="ctr">
              <a:defRPr sz="1600" b="1">
                <a:solidFill>
                  <a:srgbClr val="FFFFFF"/>
                </a:solidFill>
                <a:latin typeface="Calibri"/>
              </a:defRPr>
            </a:pPr>
            <a:r>
              <a:t>Git Term</a:t>
            </a:r>
          </a:p>
        </p:txBody>
      </p:sp>
      <p:sp>
        <p:nvSpPr>
          <p:cNvPr id="29" name="TextBox 28"/>
          <p:cNvSpPr txBox="1"/>
          <p:nvPr/>
        </p:nvSpPr>
        <p:spPr>
          <a:xfrm>
            <a:off x="4114800" y="1097280"/>
            <a:ext cx="6858000" cy="365760"/>
          </a:xfrm>
          <a:prstGeom prst="rect">
            <a:avLst/>
          </a:prstGeom>
          <a:noFill/>
        </p:spPr>
        <p:txBody>
          <a:bodyPr wrap="square"/>
          <a:lstStyle/>
          <a:p>
            <a:pPr algn="l">
              <a:defRPr sz="1600" b="1">
                <a:solidFill>
                  <a:srgbClr val="FFFFFF"/>
                </a:solidFill>
                <a:latin typeface="Calibri"/>
              </a:defRPr>
            </a:pPr>
            <a:r>
              <a:t>The PM Outcome</a:t>
            </a:r>
          </a:p>
        </p:txBody>
      </p:sp>
      <p:sp>
        <p:nvSpPr>
          <p:cNvPr id="30" name="TextBox 29"/>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lstStyle/>
          <a:p>
            <a:pPr algn="l">
              <a:defRPr sz="1400" b="1">
                <a:solidFill>
                  <a:srgbClr val="4ADE80"/>
                </a:solidFill>
                <a:latin typeface="Calibri"/>
              </a:defRPr>
            </a:pPr>
            <a:r>
              <a:t>THE 5 MOTIONS</a:t>
            </a:r>
          </a:p>
        </p:txBody>
      </p:sp>
      <p:sp>
        <p:nvSpPr>
          <p:cNvPr id="3" name="TextBox 2"/>
          <p:cNvSpPr txBox="1"/>
          <p:nvPr/>
        </p:nvSpPr>
        <p:spPr>
          <a:xfrm>
            <a:off x="731520" y="731520"/>
            <a:ext cx="10058400" cy="731520"/>
          </a:xfrm>
          <a:prstGeom prst="rect">
            <a:avLst/>
          </a:prstGeom>
          <a:noFill/>
        </p:spPr>
        <p:txBody>
          <a:bodyPr wrap="square"/>
          <a:lstStyle/>
          <a:p>
            <a:pPr algn="l">
              <a:defRPr sz="2800" b="1">
                <a:solidFill>
                  <a:srgbClr val="FFFFFF"/>
                </a:solidFill>
                <a:latin typeface="Calibri"/>
              </a:defRPr>
            </a:pPr>
            <a:r>
              <a:t>Every workflow in this playbook serves one of five motions.</a:t>
            </a:r>
          </a:p>
        </p:txBody>
      </p:sp>
      <p:sp>
        <p:nvSpPr>
          <p:cNvPr id="4" name="Rounded Rectangle 3"/>
          <p:cNvSpPr/>
          <p:nvPr/>
        </p:nvSpPr>
        <p:spPr>
          <a:xfrm>
            <a:off x="457200" y="1737360"/>
            <a:ext cx="210312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20240"/>
            <a:ext cx="1828800" cy="457200"/>
          </a:xfrm>
          <a:prstGeom prst="rect">
            <a:avLst/>
          </a:prstGeom>
          <a:noFill/>
        </p:spPr>
        <p:txBody>
          <a:bodyPr wrap="square"/>
          <a:lstStyle/>
          <a:p>
            <a:pPr algn="ctr">
              <a:defRPr sz="2200" b="1">
                <a:solidFill>
                  <a:srgbClr val="0B3D2E"/>
                </a:solidFill>
                <a:latin typeface="Calibri"/>
              </a:defRPr>
            </a:pPr>
            <a:r>
              <a:t>Context</a:t>
            </a:r>
          </a:p>
          <a:p>
            <a:pPr algn="l">
              <a:spcBef>
                <a:spcPts val="1400"/>
              </a:spcBef>
              <a:defRPr sz="1300" b="0">
                <a:solidFill>
                  <a:srgbClr val="000000"/>
                </a:solidFill>
                <a:latin typeface="Calibri"/>
              </a:defRPr>
            </a:pPr>
            <a:r>
              <a:t>Create one versioned home for strategy, research, decisions, and set the context your product team and AI tools need.</a:t>
            </a:r>
          </a:p>
        </p:txBody>
      </p:sp>
      <p:sp>
        <p:nvSpPr>
          <p:cNvPr id="6" name="TextBox 5"/>
          <p:cNvSpPr txBox="1"/>
          <p:nvPr/>
        </p:nvSpPr>
        <p:spPr>
          <a:xfrm>
            <a:off x="594360" y="4754880"/>
            <a:ext cx="1828800" cy="274320"/>
          </a:xfrm>
          <a:prstGeom prst="rect">
            <a:avLst/>
          </a:prstGeom>
          <a:noFill/>
        </p:spPr>
        <p:txBody>
          <a:bodyPr wrap="square"/>
          <a:lstStyle/>
          <a:p>
            <a:pPr algn="ctr">
              <a:defRPr sz="1100" b="0">
                <a:solidFill>
                  <a:srgbClr val="999999"/>
                </a:solidFill>
                <a:latin typeface="Calibri"/>
              </a:defRPr>
            </a:pPr>
            <a:r>
              <a:t>WF 1, 2, 7</a:t>
            </a:r>
          </a:p>
        </p:txBody>
      </p:sp>
      <p:sp>
        <p:nvSpPr>
          <p:cNvPr id="7" name="Rounded Rectangle 6"/>
          <p:cNvSpPr/>
          <p:nvPr/>
        </p:nvSpPr>
        <p:spPr>
          <a:xfrm>
            <a:off x="2743200" y="1737360"/>
            <a:ext cx="210312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0360" y="1920240"/>
            <a:ext cx="1828800" cy="457200"/>
          </a:xfrm>
          <a:prstGeom prst="rect">
            <a:avLst/>
          </a:prstGeom>
          <a:noFill/>
        </p:spPr>
        <p:txBody>
          <a:bodyPr wrap="square"/>
          <a:lstStyle/>
          <a:p>
            <a:pPr algn="ctr">
              <a:defRPr sz="2200" b="1">
                <a:solidFill>
                  <a:srgbClr val="0B3D2E"/>
                </a:solidFill>
                <a:latin typeface="Calibri"/>
              </a:defRPr>
            </a:pPr>
            <a:r>
              <a:t>Communications</a:t>
            </a:r>
          </a:p>
          <a:p>
            <a:pPr algn="l">
              <a:spcBef>
                <a:spcPts val="1400"/>
              </a:spcBef>
              <a:defRPr sz="1300" b="0">
                <a:solidFill>
                  <a:srgbClr val="000000"/>
                </a:solidFill>
                <a:latin typeface="Calibri"/>
              </a:defRPr>
            </a:pPr>
            <a:r>
              <a:t>Create a collaborative space where ideas can be challenged, refined, and documented before they become expensive commitments.</a:t>
            </a:r>
          </a:p>
        </p:txBody>
      </p:sp>
      <p:sp>
        <p:nvSpPr>
          <p:cNvPr id="9" name="TextBox 8"/>
          <p:cNvSpPr txBox="1"/>
          <p:nvPr/>
        </p:nvSpPr>
        <p:spPr>
          <a:xfrm>
            <a:off x="2880360" y="4754880"/>
            <a:ext cx="1828800" cy="274320"/>
          </a:xfrm>
          <a:prstGeom prst="rect">
            <a:avLst/>
          </a:prstGeom>
          <a:noFill/>
        </p:spPr>
        <p:txBody>
          <a:bodyPr wrap="square"/>
          <a:lstStyle/>
          <a:p>
            <a:pPr algn="ctr">
              <a:defRPr sz="1100" b="0">
                <a:solidFill>
                  <a:srgbClr val="999999"/>
                </a:solidFill>
                <a:latin typeface="Calibri"/>
              </a:defRPr>
            </a:pPr>
            <a:r>
              <a:t>WF 3, 4, 9</a:t>
            </a:r>
          </a:p>
        </p:txBody>
      </p:sp>
      <p:sp>
        <p:nvSpPr>
          <p:cNvPr id="10" name="Rounded Rectangle 9"/>
          <p:cNvSpPr/>
          <p:nvPr/>
        </p:nvSpPr>
        <p:spPr>
          <a:xfrm>
            <a:off x="5029200" y="1737360"/>
            <a:ext cx="210312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66360" y="1920240"/>
            <a:ext cx="1828800" cy="457200"/>
          </a:xfrm>
          <a:prstGeom prst="rect">
            <a:avLst/>
          </a:prstGeom>
          <a:noFill/>
        </p:spPr>
        <p:txBody>
          <a:bodyPr wrap="square"/>
          <a:lstStyle/>
          <a:p>
            <a:pPr algn="ctr">
              <a:defRPr sz="2200" b="1">
                <a:solidFill>
                  <a:srgbClr val="0B3D2E"/>
                </a:solidFill>
                <a:latin typeface="Calibri"/>
              </a:defRPr>
            </a:pPr>
            <a:r>
              <a:t>Confidence</a:t>
            </a:r>
          </a:p>
          <a:p>
            <a:pPr algn="l">
              <a:spcBef>
                <a:spcPts val="1400"/>
              </a:spcBef>
              <a:defRPr sz="1300" b="0">
                <a:solidFill>
                  <a:srgbClr val="000000"/>
                </a:solidFill>
                <a:latin typeface="Calibri"/>
              </a:defRPr>
            </a:pPr>
            <a:r>
              <a:t>Keep assumptions, experiments, findings, and evidence connected so each discovery effort informs the next.</a:t>
            </a:r>
          </a:p>
        </p:txBody>
      </p:sp>
      <p:sp>
        <p:nvSpPr>
          <p:cNvPr id="12" name="TextBox 11"/>
          <p:cNvSpPr txBox="1"/>
          <p:nvPr/>
        </p:nvSpPr>
        <p:spPr>
          <a:xfrm>
            <a:off x="5166360" y="4754880"/>
            <a:ext cx="1828800" cy="274320"/>
          </a:xfrm>
          <a:prstGeom prst="rect">
            <a:avLst/>
          </a:prstGeom>
          <a:noFill/>
        </p:spPr>
        <p:txBody>
          <a:bodyPr wrap="square"/>
          <a:lstStyle/>
          <a:p>
            <a:pPr algn="ctr">
              <a:defRPr sz="1100" b="0">
                <a:solidFill>
                  <a:srgbClr val="999999"/>
                </a:solidFill>
                <a:latin typeface="Calibri"/>
              </a:defRPr>
            </a:pPr>
            <a:r>
              <a:t>WF 5, 6</a:t>
            </a:r>
          </a:p>
        </p:txBody>
      </p:sp>
      <p:sp>
        <p:nvSpPr>
          <p:cNvPr id="13" name="Rounded Rectangle 12"/>
          <p:cNvSpPr/>
          <p:nvPr/>
        </p:nvSpPr>
        <p:spPr>
          <a:xfrm>
            <a:off x="7315200" y="1737360"/>
            <a:ext cx="2103120" cy="3474720"/>
          </a:xfrm>
          <a:prstGeom prst="round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1920240"/>
            <a:ext cx="1828800" cy="457200"/>
          </a:xfrm>
          <a:prstGeom prst="rect">
            <a:avLst/>
          </a:prstGeom>
          <a:noFill/>
        </p:spPr>
        <p:txBody>
          <a:bodyPr wrap="square"/>
          <a:lstStyle/>
          <a:p>
            <a:pPr algn="ctr">
              <a:defRPr sz="2200" b="1">
                <a:solidFill>
                  <a:srgbClr val="0B3D2E"/>
                </a:solidFill>
                <a:latin typeface="Calibri"/>
              </a:defRPr>
            </a:pPr>
            <a:r>
              <a:t>Constitution</a:t>
            </a:r>
          </a:p>
          <a:p>
            <a:pPr algn="l">
              <a:spcBef>
                <a:spcPts val="1400"/>
              </a:spcBef>
              <a:defRPr sz="1300" b="0">
                <a:solidFill>
                  <a:srgbClr val="0B3D2E"/>
                </a:solidFill>
                <a:latin typeface="Calibri"/>
              </a:defRPr>
            </a:pPr>
            <a:r>
              <a:t>Define product guardrails and non-negotiables that GitHub can help enforce without making you the process cop.</a:t>
            </a:r>
          </a:p>
        </p:txBody>
      </p:sp>
      <p:sp>
        <p:nvSpPr>
          <p:cNvPr id="15" name="TextBox 14"/>
          <p:cNvSpPr txBox="1"/>
          <p:nvPr/>
        </p:nvSpPr>
        <p:spPr>
          <a:xfrm>
            <a:off x="7452360" y="4754880"/>
            <a:ext cx="1828800" cy="274320"/>
          </a:xfrm>
          <a:prstGeom prst="rect">
            <a:avLst/>
          </a:prstGeom>
          <a:noFill/>
        </p:spPr>
        <p:txBody>
          <a:bodyPr wrap="square"/>
          <a:lstStyle/>
          <a:p>
            <a:pPr algn="ctr">
              <a:defRPr sz="1100" b="0">
                <a:solidFill>
                  <a:srgbClr val="999999"/>
                </a:solidFill>
                <a:latin typeface="Calibri"/>
              </a:defRPr>
            </a:pPr>
            <a:r>
              <a:t>The thread</a:t>
            </a:r>
          </a:p>
        </p:txBody>
      </p:sp>
      <p:sp>
        <p:nvSpPr>
          <p:cNvPr id="16" name="Rounded Rectangle 15"/>
          <p:cNvSpPr/>
          <p:nvPr/>
        </p:nvSpPr>
        <p:spPr>
          <a:xfrm>
            <a:off x="9601200" y="1737360"/>
            <a:ext cx="210312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1920240"/>
            <a:ext cx="1828800" cy="457200"/>
          </a:xfrm>
          <a:prstGeom prst="rect">
            <a:avLst/>
          </a:prstGeom>
          <a:noFill/>
        </p:spPr>
        <p:txBody>
          <a:bodyPr wrap="square"/>
          <a:lstStyle/>
          <a:p>
            <a:pPr algn="ctr">
              <a:defRPr sz="2200" b="1">
                <a:solidFill>
                  <a:srgbClr val="0B3D2E"/>
                </a:solidFill>
                <a:latin typeface="Calibri"/>
              </a:defRPr>
            </a:pPr>
            <a:r>
              <a:t>Community</a:t>
            </a:r>
          </a:p>
          <a:p>
            <a:pPr algn="l">
              <a:spcBef>
                <a:spcPts val="1400"/>
              </a:spcBef>
              <a:defRPr sz="1300" b="0">
                <a:solidFill>
                  <a:srgbClr val="000000"/>
                </a:solidFill>
                <a:latin typeface="Calibri"/>
              </a:defRPr>
            </a:pPr>
            <a:r>
              <a:t>Build a structured front door for ideas, requests, and contributions, with a visible record of what happened next.</a:t>
            </a:r>
          </a:p>
        </p:txBody>
      </p:sp>
      <p:sp>
        <p:nvSpPr>
          <p:cNvPr id="18" name="TextBox 17"/>
          <p:cNvSpPr txBox="1"/>
          <p:nvPr/>
        </p:nvSpPr>
        <p:spPr>
          <a:xfrm>
            <a:off x="9738360" y="4754880"/>
            <a:ext cx="1828800" cy="274320"/>
          </a:xfrm>
          <a:prstGeom prst="rect">
            <a:avLst/>
          </a:prstGeom>
          <a:noFill/>
        </p:spPr>
        <p:txBody>
          <a:bodyPr wrap="square"/>
          <a:lstStyle/>
          <a:p>
            <a:pPr algn="ctr">
              <a:defRPr sz="1100" b="0">
                <a:solidFill>
                  <a:srgbClr val="999999"/>
                </a:solidFill>
                <a:latin typeface="Calibri"/>
              </a:defRPr>
            </a:pPr>
            <a:r>
              <a:t>WF 8</a:t>
            </a:r>
          </a:p>
        </p:txBody>
      </p:sp>
      <p:sp>
        <p:nvSpPr>
          <p:cNvPr id="19" name="Rectangle 18"/>
          <p:cNvSpPr/>
          <p:nvPr/>
        </p:nvSpPr>
        <p:spPr>
          <a:xfrm>
            <a:off x="457200" y="5394960"/>
            <a:ext cx="11247120" cy="18288"/>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11247120" cy="457200"/>
          </a:xfrm>
          <a:prstGeom prst="rect">
            <a:avLst/>
          </a:prstGeom>
          <a:noFill/>
        </p:spPr>
        <p:txBody>
          <a:bodyPr wrap="square"/>
          <a:lstStyle/>
          <a:p>
            <a:pPr algn="ctr">
              <a:defRPr sz="1400" b="0">
                <a:solidFill>
                  <a:srgbClr val="4ADE80"/>
                </a:solidFill>
                <a:latin typeface="Calibri"/>
              </a:defRPr>
            </a:pPr>
            <a:r>
              <a:t>Constitution is not a step you do once. It is the thread that makes the other four safe: CONSTITUTION.md + Content Guard action + AI reads guardrails before it acts.</a:t>
            </a:r>
          </a:p>
        </p:txBody>
      </p:sp>
      <p:sp>
        <p:nvSpPr>
          <p:cNvPr id="21" name="TextBox 20"/>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4ADE80"/>
        </a:solidFill>
        <a:effectLst/>
      </p:bgPr>
    </p:bg>
    <p:spTree>
      <p:nvGrpSpPr>
        <p:cNvPr id="1" name=""/>
        <p:cNvGrpSpPr/>
        <p:nvPr/>
      </p:nvGrpSpPr>
      <p:grpSpPr/>
      <p:sp>
        <p:nvSpPr>
          <p:cNvPr id="2" name="TextBox 1"/>
          <p:cNvSpPr txBox="1"/>
          <p:nvPr/>
        </p:nvSpPr>
        <p:spPr>
          <a:xfrm>
            <a:off x="731520" y="457200"/>
            <a:ext cx="4572000" cy="457200"/>
          </a:xfrm>
          <a:prstGeom prst="rect">
            <a:avLst/>
          </a:prstGeom>
          <a:noFill/>
        </p:spPr>
        <p:txBody>
          <a:bodyPr wrap="square"/>
          <a:lstStyle/>
          <a:p>
            <a:pPr algn="l">
              <a:defRPr sz="1600" b="1">
                <a:solidFill>
                  <a:srgbClr val="0B3D2E"/>
                </a:solidFill>
                <a:latin typeface="Calibri"/>
              </a:defRPr>
            </a:pPr>
            <a:r>
              <a:t>THE PLAYBOOK</a:t>
            </a:r>
          </a:p>
        </p:txBody>
      </p:sp>
      <p:sp>
        <p:nvSpPr>
          <p:cNvPr id="3" name="TextBox 2"/>
          <p:cNvSpPr txBox="1"/>
          <p:nvPr/>
        </p:nvSpPr>
        <p:spPr>
          <a:xfrm>
            <a:off x="731520" y="1188720"/>
            <a:ext cx="7315200" cy="2286000"/>
          </a:xfrm>
          <a:prstGeom prst="rect">
            <a:avLst/>
          </a:prstGeom>
          <a:noFill/>
        </p:spPr>
        <p:txBody>
          <a:bodyPr wrap="square"/>
          <a:lstStyle/>
          <a:p>
            <a:pPr algn="l">
              <a:defRPr sz="5600" b="1">
                <a:solidFill>
                  <a:srgbClr val="000000"/>
                </a:solidFill>
                <a:latin typeface="Calibri"/>
              </a:defRPr>
            </a:pPr>
            <a:r>
              <a:t>5 Motions,</a:t>
            </a:r>
            <a:br/>
            <a:r>
              <a:t>9 Workflows</a:t>
            </a:r>
            <a:br/>
            <a:r>
              <a:t>for your AI Harness.</a:t>
            </a:r>
          </a:p>
        </p:txBody>
      </p:sp>
      <p:sp>
        <p:nvSpPr>
          <p:cNvPr id="4" name="TextBox 3"/>
          <p:cNvSpPr txBox="1"/>
          <p:nvPr/>
        </p:nvSpPr>
        <p:spPr>
          <a:xfrm>
            <a:off x="731520" y="3840480"/>
            <a:ext cx="7315200" cy="548640"/>
          </a:xfrm>
          <a:prstGeom prst="rect">
            <a:avLst/>
          </a:prstGeom>
          <a:noFill/>
        </p:spPr>
        <p:txBody>
          <a:bodyPr wrap="square"/>
          <a:lstStyle/>
          <a:p>
            <a:pPr algn="l">
              <a:defRPr sz="2200" b="0">
                <a:solidFill>
                  <a:srgbClr val="0B3D2E"/>
                </a:solidFill>
                <a:latin typeface="Calibri"/>
              </a:defRPr>
            </a:pPr>
            <a:r>
              <a:t>Verbatim instructions to manage product context safely. No coding required.</a:t>
            </a:r>
          </a:p>
        </p:txBody>
      </p:sp>
      <p:sp>
        <p:nvSpPr>
          <p:cNvPr id="5" name="TextBox 4"/>
          <p:cNvSpPr txBox="1"/>
          <p:nvPr/>
        </p:nvSpPr>
        <p:spPr>
          <a:xfrm>
            <a:off x="731520" y="4572000"/>
            <a:ext cx="10058400" cy="1463040"/>
          </a:xfrm>
          <a:prstGeom prst="rect">
            <a:avLst/>
          </a:prstGeom>
          <a:noFill/>
        </p:spPr>
        <p:txBody>
          <a:bodyPr wrap="square"/>
          <a:lstStyle/>
          <a:p>
            <a:pPr algn="l">
              <a:defRPr sz="2000" b="1">
                <a:solidFill>
                  <a:srgbClr val="0B3D2E"/>
                </a:solidFill>
                <a:latin typeface="Calibri"/>
              </a:defRPr>
            </a:pPr>
            <a:r>
              <a:t>Context  ·  Communications  ·  Confidence  ·  Constitution  ·  Community</a:t>
            </a:r>
          </a:p>
          <a:p>
            <a:pPr algn="l">
              <a:spcBef>
                <a:spcPts val="1200"/>
              </a:spcBef>
              <a:defRPr sz="1400" b="0">
                <a:solidFill>
                  <a:srgbClr val="0B3D2E"/>
                </a:solidFill>
                <a:latin typeface="Calibri"/>
              </a:defRPr>
            </a:pPr>
            <a:r>
              <a:t>Constitution is the thread: CONSTITUTION.md ships with the repo, Content Guard fires on every PR, AI reads the guardrails before it acts.</a:t>
            </a:r>
          </a:p>
        </p:txBody>
      </p:sp>
      <p:sp>
        <p:nvSpPr>
          <p:cNvPr id="6" name="TextBox 5"/>
          <p:cNvSpPr txBox="1"/>
          <p:nvPr/>
        </p:nvSpPr>
        <p:spPr>
          <a:xfrm>
            <a:off x="731520" y="5943600"/>
            <a:ext cx="9144000" cy="457200"/>
          </a:xfrm>
          <a:prstGeom prst="rect">
            <a:avLst/>
          </a:prstGeom>
          <a:noFill/>
        </p:spPr>
        <p:txBody>
          <a:bodyPr wrap="square"/>
          <a:lstStyle/>
          <a:p>
            <a:pPr algn="l">
              <a:defRPr sz="1400" b="1">
                <a:solidFill>
                  <a:srgbClr val="0B3D2E"/>
                </a:solidFill>
                <a:latin typeface="Calibri"/>
              </a:defRPr>
            </a:pPr>
            <a:r>
              <a:t>Live example: Productside Market Intelligence Skills — 22 skills, 22 prompts, open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1  ·  CONTEXT</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Check tools &amp;</a:t>
            </a:r>
            <a:br/>
            <a:r>
              <a:t>connect to GitHub.</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You want your local product workspace and GitHub to stay connected so you can bring down team changes without fighting authentication every time.</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You gain a working connection. Your harness can now pull shared context and push your work back securely.</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Check whether Git and GitHub CLI are installed and whether this computer is already authenticated with GitHub. Explain the authentication choices, let me complete any browser sign-in myself, and confirm Git can use the connection.</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gh auth login</a:t>
            </a:r>
            <a:br/>
            <a:r>
              <a:t>gh auth setup-git</a:t>
            </a:r>
            <a:br/>
            <a:r>
              <a:t>gh auth status</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2  ·  CONTEXT</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Clone a shared library</a:t>
            </a:r>
            <a:br/>
            <a:r>
              <a:t>&amp; install its skills.</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Productside publishes a market intelligence skills library on GitHub. You want to bring it onto your machine, install the skills into your AI harness, and start using them.</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One command gives you a versioned local copy of 22 skills and 22 prompts. You can read every skill, run them, and eventually improve them. The guardrails ship with the tool.</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Clone the Productside Market Intelligence Skills repository into my Projects directory and install the skills. Show me what's available.</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git clone https://github.com/</a:t>
            </a:r>
            <a:br/>
            <a:r>
              <a:t>  Productside/Productside-Market-</a:t>
            </a:r>
            <a:br/>
            <a:r>
              <a:t>  Intelligence-Skills.git</a:t>
            </a:r>
            <a:br/>
            <a:r>
              <a:t>/plugin install mintel</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3  ·  COMMUNICATIONS</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Run a skill &amp; use</a:t>
            </a:r>
            <a:br/>
            <a:r>
              <a:t>what the team built.</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You need a battle card for a competitor who showed up in two lost deals. The skill exists in the library you just cloned. Run it.</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Instead of starting from scratch, you run a skill the team already built and validated. The output is cited, labeled Fact / Inference / Assumption, and tells you the claims you must not make.</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Use the battle card builder skill. My product is [your product]. The competitor is [competitor name]. We've lost two deals to them in the mid-market segment. Build the card from public evidence.</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Reads prompts/battle-card-builder-</a:t>
            </a:r>
            <a:br/>
            <a:r>
              <a:t>  prompt.md, asks at most 3 setup</a:t>
            </a:r>
            <a:br/>
            <a:r>
              <a:t>  questions, sweeps public sources</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4  ·  COMMUNICATIONS</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Open a PR for</a:t>
            </a:r>
            <a:br/>
            <a:r>
              <a:t>Dean to approve.</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Kenny's battle card improvements are committed on his branch. He does not want to silently overwrite the published skill. He wants Dean to see exactly what changed and approve.</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The team can challenge the proposed change before it becomes accepted, trusted context. The content guard runs automatically: no client names, no credentials, no oversized files.</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Push my improve-battle-card branch to GitHub and create a pull request to the Productside Market Intelligence Skills repo. Summarize what I improved and why. Do not merge it.</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git push -u origin improve-battle-card</a:t>
            </a:r>
            <a:br/>
            <a:r>
              <a:t>gh pr create --fill</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5  ·  CONFIDENCE</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Commit the change</a:t>
            </a:r>
            <a:br/>
            <a:r>
              <a:t>with the reasoning.</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Kenny improved the battle card skill based on what he's seen work in real deals. He wants future-you to know this was a deliberate improvement, not a mysterious edit.</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The history preserves more than 'a file changed.' It preserves a useful, traceable point in the evolution of the team's practice.</a:t>
            </a:r>
          </a:p>
        </p:txBody>
      </p:sp>
      <p:sp>
        <p:nvSpPr>
          <p:cNvPr id="7" name="TextBox 6"/>
          <p:cNvSpPr txBox="1"/>
          <p:nvPr/>
        </p:nvSpPr>
        <p:spPr>
          <a:xfrm>
            <a:off x="640080" y="5486400"/>
            <a:ext cx="5029200" cy="640080"/>
          </a:xfrm>
          <a:prstGeom prst="rect">
            <a:avLst/>
          </a:prstGeom>
          <a:noFill/>
        </p:spPr>
        <p:txBody>
          <a:bodyPr wrap="square"/>
          <a:lstStyle/>
          <a:p>
            <a:pPr algn="l">
              <a:defRPr sz="1300" b="0">
                <a:solidFill>
                  <a:srgbClr val="999999"/>
                </a:solidFill>
                <a:latin typeface="Calibri"/>
              </a:defRPr>
            </a:pPr>
            <a:r>
              <a:t>In plain English: you can revert a belief. You cannot revert a market.</a:t>
            </a:r>
          </a:p>
        </p:txBody>
      </p:sp>
      <p:sp>
        <p:nvSpPr>
          <p:cNvPr id="8" name="Rounded Rectangle 7"/>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10" name="TextBox 9"/>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Show me exactly what I changed in the battle card skill. Help me write a concise commit message that captures why, then commit it. Do not push until I approve.</a:t>
            </a:r>
          </a:p>
        </p:txBody>
      </p:sp>
      <p:sp>
        <p:nvSpPr>
          <p:cNvPr id="11" name="Rectangle 10"/>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3" name="TextBox 12"/>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git diff</a:t>
            </a:r>
            <a:br/>
            <a:r>
              <a:t>git add prompts/battle-card-</a:t>
            </a:r>
            <a:br/>
            <a:r>
              <a:t>  builder-prompt.md</a:t>
            </a:r>
            <a:br/>
            <a:r>
              <a:t>git commit -m 'Add deal-context</a:t>
            </a:r>
            <a:br/>
            <a:r>
              <a:t>  section and sharpen objection</a:t>
            </a:r>
            <a:br/>
            <a:r>
              <a:t>  handling based on field experience'</a:t>
            </a:r>
          </a:p>
        </p:txBody>
      </p:sp>
      <p:sp>
        <p:nvSpPr>
          <p:cNvPr id="14" name="TextBox 13"/>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6  ·  CONFIDENCE</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Branch to improve</a:t>
            </a:r>
            <a:br/>
            <a:r>
              <a:t>what you know best.</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Kenny ran the Battle Card skill and spotted gaps. He's an SME on battle cards. He wants to improve the skill based on what he knows works in real deals, but the team is still using the current version.</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Kenny can rewrite the skill on a branch without touching what the team trusts today. No 'FINAL_v7' naming. No editing traffic jam.</a:t>
            </a:r>
          </a:p>
        </p:txBody>
      </p:sp>
      <p:sp>
        <p:nvSpPr>
          <p:cNvPr id="7" name="TextBox 6"/>
          <p:cNvSpPr txBox="1"/>
          <p:nvPr/>
        </p:nvSpPr>
        <p:spPr>
          <a:xfrm>
            <a:off x="640080" y="5486400"/>
            <a:ext cx="5029200" cy="640080"/>
          </a:xfrm>
          <a:prstGeom prst="rect">
            <a:avLst/>
          </a:prstGeom>
          <a:noFill/>
        </p:spPr>
        <p:txBody>
          <a:bodyPr wrap="square"/>
          <a:lstStyle/>
          <a:p>
            <a:pPr algn="l">
              <a:defRPr sz="1300" b="0">
                <a:solidFill>
                  <a:srgbClr val="999999"/>
                </a:solidFill>
                <a:latin typeface="Calibri"/>
              </a:defRPr>
            </a:pPr>
            <a:r>
              <a:t>In plain English: a branch is a safe place to be wrong.</a:t>
            </a:r>
          </a:p>
        </p:txBody>
      </p:sp>
      <p:sp>
        <p:nvSpPr>
          <p:cNvPr id="8" name="Rounded Rectangle 7"/>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10" name="TextBox 9"/>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Go to my clone of the Market Intelligence Skills repo. Make sure main is current, then create a branch called improve-battle-card. Do not change main.</a:t>
            </a:r>
          </a:p>
        </p:txBody>
      </p:sp>
      <p:sp>
        <p:nvSpPr>
          <p:cNvPr id="11" name="Rectangle 10"/>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3" name="TextBox 12"/>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git switch main</a:t>
            </a:r>
            <a:br/>
            <a:r>
              <a:t>git pull</a:t>
            </a:r>
            <a:br/>
            <a:r>
              <a:t>git switch -c improve-battle-card</a:t>
            </a:r>
          </a:p>
        </p:txBody>
      </p:sp>
      <p:sp>
        <p:nvSpPr>
          <p:cNvPr id="14" name="TextBox 13"/>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
        <p:nvSpPr>
          <p:cNvPr id="15" name="Rectangle 14"/>
          <p:cNvSpPr/>
          <p:nvPr/>
        </p:nvSpPr>
        <p:spPr>
          <a:xfrm>
            <a:off x="1097280" y="5303520"/>
            <a:ext cx="4114800" cy="36576"/>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5120640"/>
            <a:ext cx="914400" cy="274320"/>
          </a:xfrm>
          <a:prstGeom prst="rect">
            <a:avLst/>
          </a:prstGeom>
          <a:noFill/>
        </p:spPr>
        <p:txBody>
          <a:bodyPr wrap="square"/>
          <a:lstStyle/>
          <a:p>
            <a:pPr algn="l">
              <a:defRPr sz="1200" b="1">
                <a:solidFill>
                  <a:srgbClr val="000000"/>
                </a:solidFill>
                <a:latin typeface="Calibri"/>
              </a:defRPr>
            </a:pPr>
            <a:r>
              <a:t>main</a:t>
            </a:r>
          </a:p>
        </p:txBody>
      </p:sp>
      <p:sp>
        <p:nvSpPr>
          <p:cNvPr id="17" name="Rectangle 16"/>
          <p:cNvSpPr/>
          <p:nvPr/>
        </p:nvSpPr>
        <p:spPr>
          <a:xfrm>
            <a:off x="228600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83464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0896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38328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0624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80560" y="5669280"/>
            <a:ext cx="164592" cy="36576"/>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486400"/>
            <a:ext cx="1371600" cy="274320"/>
          </a:xfrm>
          <a:prstGeom prst="rect">
            <a:avLst/>
          </a:prstGeom>
          <a:noFill/>
        </p:spPr>
        <p:txBody>
          <a:bodyPr wrap="square"/>
          <a:lstStyle/>
          <a:p>
            <a:pPr algn="l">
              <a:defRPr sz="1000" b="1">
                <a:solidFill>
                  <a:srgbClr val="4ADE80"/>
                </a:solidFill>
                <a:latin typeface="Calibri"/>
              </a:defRPr>
            </a:pPr>
            <a:r>
              <a:t>improve-battle-card</a:t>
            </a:r>
          </a:p>
        </p:txBody>
      </p:sp>
      <p:sp>
        <p:nvSpPr>
          <p:cNvPr id="27" name="Oval 26"/>
          <p:cNvSpPr/>
          <p:nvPr/>
        </p:nvSpPr>
        <p:spPr>
          <a:xfrm>
            <a:off x="2286000" y="5230368"/>
            <a:ext cx="164592" cy="164592"/>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7  ·  CONTEXT</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Give AI the same</a:t>
            </a:r>
            <a:br/>
            <a:r>
              <a:t>context as the team.</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Every AI session starts from zero because your context lives in your head. When Kenny cloned the MI Skills repo and ran a skill, the AI read the repository's prompts, frameworks, and guardrails.</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The team and its AI systems work from the same persistent context. The AI reads the repo, not your clipboard. The guardrails travel with the skill.</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Read this repository and tell me what skills are available, what frameworks they use, and what rules govern how evidence gets labeled. Use the actual files, not your training data.</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Claude Code reads CONSTITUTION.md,</a:t>
            </a:r>
            <a:br/>
            <a:r>
              <a:t>  reference/, prompts/, CLAUDE.md</a:t>
            </a:r>
            <a:br/>
            <a:r>
              <a:t>Context survives the session because</a:t>
            </a:r>
            <a:br/>
            <a:r>
              <a:t>  it lives in files, not a chat window</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8  ·  COMMUNITY</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Dean merges.</a:t>
            </a:r>
            <a:br/>
            <a:r>
              <a:t>The library improves.</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Dean reviewed Kenny's pull request. The content guard passed. The changes are sound. Dean approves and merges. Kenny's improvements are now part of the published library.</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Tribal knowledge becomes team infrastructure. The next PM who runs the Battle Card Builder gets Kenny's improvements without knowing Kenny.</a:t>
            </a:r>
          </a:p>
        </p:txBody>
      </p:sp>
      <p:sp>
        <p:nvSpPr>
          <p:cNvPr id="7" name="TextBox 6"/>
          <p:cNvSpPr txBox="1"/>
          <p:nvPr/>
        </p:nvSpPr>
        <p:spPr>
          <a:xfrm>
            <a:off x="640080" y="5486400"/>
            <a:ext cx="5029200" cy="640080"/>
          </a:xfrm>
          <a:prstGeom prst="rect">
            <a:avLst/>
          </a:prstGeom>
          <a:noFill/>
        </p:spPr>
        <p:txBody>
          <a:bodyPr wrap="square"/>
          <a:lstStyle/>
          <a:p>
            <a:pPr algn="l">
              <a:defRPr sz="1300" b="0">
                <a:solidFill>
                  <a:srgbClr val="999999"/>
                </a:solidFill>
                <a:latin typeface="Calibri"/>
              </a:defRPr>
            </a:pPr>
            <a:r>
              <a:t>The honest caveat: to contribute inside a private repo, a person has to be added to it. Say this plainly.</a:t>
            </a:r>
          </a:p>
        </p:txBody>
      </p:sp>
      <p:sp>
        <p:nvSpPr>
          <p:cNvPr id="8" name="Rounded Rectangle 7"/>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10" name="TextBox 9"/>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Review the PR on GitHub. Leave a comment. Approve. Merge.</a:t>
            </a:r>
          </a:p>
        </p:txBody>
      </p:sp>
      <p:sp>
        <p:nvSpPr>
          <p:cNvPr id="11" name="Rectangle 10"/>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3" name="TextBox 12"/>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gh pr review --approve</a:t>
            </a:r>
            <a:br/>
            <a:r>
              <a:t>gh pr merge</a:t>
            </a:r>
          </a:p>
        </p:txBody>
      </p:sp>
      <p:sp>
        <p:nvSpPr>
          <p:cNvPr id="14" name="TextBox 13"/>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Rounded Rectangle 1"/>
          <p:cNvSpPr/>
          <p:nvPr/>
        </p:nvSpPr>
        <p:spPr>
          <a:xfrm>
            <a:off x="365760" y="365760"/>
            <a:ext cx="5577840" cy="5943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029200" cy="365760"/>
          </a:xfrm>
          <a:prstGeom prst="rect">
            <a:avLst/>
          </a:prstGeom>
          <a:noFill/>
        </p:spPr>
        <p:txBody>
          <a:bodyPr wrap="square"/>
          <a:lstStyle/>
          <a:p>
            <a:pPr algn="l">
              <a:defRPr sz="1300" b="1">
                <a:solidFill>
                  <a:srgbClr val="999999"/>
                </a:solidFill>
                <a:latin typeface="Calibri"/>
              </a:defRPr>
            </a:pPr>
            <a:r>
              <a:t>WORKFLOW 9  ·  COMMUNICATIONS</a:t>
            </a:r>
          </a:p>
        </p:txBody>
      </p:sp>
      <p:sp>
        <p:nvSpPr>
          <p:cNvPr id="4" name="TextBox 3"/>
          <p:cNvSpPr txBox="1"/>
          <p:nvPr/>
        </p:nvSpPr>
        <p:spPr>
          <a:xfrm>
            <a:off x="640080" y="914400"/>
            <a:ext cx="5029200" cy="1645920"/>
          </a:xfrm>
          <a:prstGeom prst="rect">
            <a:avLst/>
          </a:prstGeom>
          <a:noFill/>
        </p:spPr>
        <p:txBody>
          <a:bodyPr wrap="square"/>
          <a:lstStyle/>
          <a:p>
            <a:pPr algn="l">
              <a:defRPr sz="3600" b="1">
                <a:solidFill>
                  <a:srgbClr val="000000"/>
                </a:solidFill>
                <a:latin typeface="Calibri"/>
              </a:defRPr>
            </a:pPr>
            <a:r>
              <a:t>Walk into the meeting</a:t>
            </a:r>
            <a:br/>
            <a:r>
              <a:t>knowing what changed.</a:t>
            </a:r>
          </a:p>
        </p:txBody>
      </p:sp>
      <p:sp>
        <p:nvSpPr>
          <p:cNvPr id="5" name="TextBox 4"/>
          <p:cNvSpPr txBox="1"/>
          <p:nvPr/>
        </p:nvSpPr>
        <p:spPr>
          <a:xfrm>
            <a:off x="640080" y="2560320"/>
            <a:ext cx="5029200" cy="1097280"/>
          </a:xfrm>
          <a:prstGeom prst="rect">
            <a:avLst/>
          </a:prstGeom>
          <a:noFill/>
        </p:spPr>
        <p:txBody>
          <a:bodyPr wrap="square"/>
          <a:lstStyle/>
          <a:p>
            <a:pPr algn="l">
              <a:defRPr sz="1800" b="1">
                <a:solidFill>
                  <a:srgbClr val="000000"/>
                </a:solidFill>
                <a:latin typeface="Calibri"/>
              </a:defRPr>
            </a:pPr>
            <a:r>
              <a:t>The Situation:</a:t>
            </a:r>
          </a:p>
          <a:p>
            <a:pPr algn="l">
              <a:spcBef>
                <a:spcPts val="600"/>
              </a:spcBef>
              <a:defRPr sz="1500" b="0">
                <a:solidFill>
                  <a:srgbClr val="000000"/>
                </a:solidFill>
                <a:latin typeface="Calibri"/>
              </a:defRPr>
            </a:pPr>
            <a:r>
              <a:t>It is Monday morning. Several people have worked in the MI Skills repo since you last looked. You do not want to reread every skill to discover what moved.</a:t>
            </a:r>
          </a:p>
        </p:txBody>
      </p:sp>
      <p:sp>
        <p:nvSpPr>
          <p:cNvPr id="6" name="TextBox 5"/>
          <p:cNvSpPr txBox="1"/>
          <p:nvPr/>
        </p:nvSpPr>
        <p:spPr>
          <a:xfrm>
            <a:off x="640080" y="4206240"/>
            <a:ext cx="5029200" cy="1463040"/>
          </a:xfrm>
          <a:prstGeom prst="rect">
            <a:avLst/>
          </a:prstGeom>
          <a:noFill/>
        </p:spPr>
        <p:txBody>
          <a:bodyPr wrap="square"/>
          <a:lstStyle/>
          <a:p>
            <a:pPr algn="l">
              <a:defRPr sz="1800" b="1">
                <a:solidFill>
                  <a:srgbClr val="4ADE80"/>
                </a:solidFill>
                <a:latin typeface="Calibri"/>
              </a:defRPr>
            </a:pPr>
            <a:r>
              <a:t>The PM Gain:</a:t>
            </a:r>
          </a:p>
          <a:p>
            <a:pPr algn="l">
              <a:spcBef>
                <a:spcPts val="600"/>
              </a:spcBef>
              <a:defRPr sz="1500" b="0">
                <a:solidFill>
                  <a:srgbClr val="000000"/>
                </a:solidFill>
                <a:latin typeface="Calibri"/>
              </a:defRPr>
            </a:pPr>
            <a:r>
              <a:t>Enter the conversation knowing exactly what changed: Kenny improved the battle card, Dean merged it. No reconstructing history from chat.</a:t>
            </a:r>
          </a:p>
        </p:txBody>
      </p:sp>
      <p:sp>
        <p:nvSpPr>
          <p:cNvPr id="7" name="Rounded Rectangle 6"/>
          <p:cNvSpPr/>
          <p:nvPr/>
        </p:nvSpPr>
        <p:spPr>
          <a:xfrm>
            <a:off x="6217920" y="365760"/>
            <a:ext cx="5577840" cy="5943600"/>
          </a:xfrm>
          <a:prstGeom prst="round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48640"/>
            <a:ext cx="5029200" cy="457200"/>
          </a:xfrm>
          <a:prstGeom prst="rect">
            <a:avLst/>
          </a:prstGeom>
          <a:noFill/>
        </p:spPr>
        <p:txBody>
          <a:bodyPr wrap="square"/>
          <a:lstStyle/>
          <a:p>
            <a:pPr algn="l">
              <a:defRPr sz="2200" b="1">
                <a:solidFill>
                  <a:srgbClr val="FFFFFF"/>
                </a:solidFill>
                <a:latin typeface="Calibri"/>
              </a:defRPr>
            </a:pPr>
            <a:r>
              <a:t>The AI Prompt</a:t>
            </a:r>
          </a:p>
        </p:txBody>
      </p:sp>
      <p:sp>
        <p:nvSpPr>
          <p:cNvPr id="9" name="TextBox 8"/>
          <p:cNvSpPr txBox="1"/>
          <p:nvPr/>
        </p:nvSpPr>
        <p:spPr>
          <a:xfrm>
            <a:off x="6492240" y="1097280"/>
            <a:ext cx="5029200" cy="2560320"/>
          </a:xfrm>
          <a:prstGeom prst="rect">
            <a:avLst/>
          </a:prstGeom>
          <a:noFill/>
        </p:spPr>
        <p:txBody>
          <a:bodyPr wrap="square"/>
          <a:lstStyle/>
          <a:p>
            <a:pPr algn="l">
              <a:defRPr sz="1600" b="0">
                <a:solidFill>
                  <a:srgbClr val="4ADE80"/>
                </a:solidFill>
                <a:latin typeface="Courier New"/>
              </a:defRPr>
            </a:pPr>
            <a:r>
              <a:t>Bring me up to speed on the Productside Market Intelligence Skills repo. Tell me what branch I'm on, what changed recently, and what PRs were merged. Summarize the consequential changes, not just filenames.</a:t>
            </a:r>
          </a:p>
        </p:txBody>
      </p:sp>
      <p:sp>
        <p:nvSpPr>
          <p:cNvPr id="10" name="Rectangle 9"/>
          <p:cNvSpPr/>
          <p:nvPr/>
        </p:nvSpPr>
        <p:spPr>
          <a:xfrm>
            <a:off x="6492240" y="3840480"/>
            <a:ext cx="4754880" cy="18288"/>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23360"/>
            <a:ext cx="5029200" cy="457200"/>
          </a:xfrm>
          <a:prstGeom prst="rect">
            <a:avLst/>
          </a:prstGeom>
          <a:noFill/>
        </p:spPr>
        <p:txBody>
          <a:bodyPr wrap="square"/>
          <a:lstStyle/>
          <a:p>
            <a:pPr algn="l">
              <a:defRPr sz="1800" b="0">
                <a:solidFill>
                  <a:srgbClr val="999999"/>
                </a:solidFill>
                <a:latin typeface="Calibri"/>
              </a:defRPr>
            </a:pPr>
            <a:r>
              <a:t>The Invisible Machinery</a:t>
            </a:r>
          </a:p>
        </p:txBody>
      </p:sp>
      <p:sp>
        <p:nvSpPr>
          <p:cNvPr id="12" name="TextBox 11"/>
          <p:cNvSpPr txBox="1"/>
          <p:nvPr/>
        </p:nvSpPr>
        <p:spPr>
          <a:xfrm>
            <a:off x="6492240" y="4572000"/>
            <a:ext cx="5029200" cy="1371600"/>
          </a:xfrm>
          <a:prstGeom prst="rect">
            <a:avLst/>
          </a:prstGeom>
          <a:noFill/>
        </p:spPr>
        <p:txBody>
          <a:bodyPr wrap="square"/>
          <a:lstStyle/>
          <a:p>
            <a:pPr algn="l">
              <a:defRPr sz="1400" b="0">
                <a:solidFill>
                  <a:srgbClr val="999999"/>
                </a:solidFill>
                <a:latin typeface="Courier New"/>
              </a:defRPr>
            </a:pPr>
            <a:r>
              <a:t>git fetch</a:t>
            </a:r>
            <a:br/>
            <a:r>
              <a:t>git log --oneline --decorate -10</a:t>
            </a:r>
            <a:br/>
            <a:r>
              <a:t>gh pr list --state merged --limit 5</a:t>
            </a:r>
          </a:p>
        </p:txBody>
      </p:sp>
      <p:sp>
        <p:nvSpPr>
          <p:cNvPr id="13" name="TextBox 12"/>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274320"/>
            <a:ext cx="10058400" cy="914400"/>
          </a:xfrm>
          <a:prstGeom prst="rect">
            <a:avLst/>
          </a:prstGeom>
          <a:noFill/>
        </p:spPr>
        <p:txBody>
          <a:bodyPr wrap="square"/>
          <a:lstStyle/>
          <a:p>
            <a:pPr algn="l">
              <a:defRPr sz="4800" b="1">
                <a:solidFill>
                  <a:srgbClr val="FFFFFF"/>
                </a:solidFill>
                <a:latin typeface="Calibri"/>
              </a:defRPr>
            </a:pPr>
            <a:r>
              <a:t>Prompts worth stealing.</a:t>
            </a:r>
          </a:p>
        </p:txBody>
      </p:sp>
      <p:sp>
        <p:nvSpPr>
          <p:cNvPr id="3" name="Rounded Rectangle 2"/>
          <p:cNvSpPr/>
          <p:nvPr/>
        </p:nvSpPr>
        <p:spPr>
          <a:xfrm>
            <a:off x="457200" y="1371600"/>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3200400" cy="1828800"/>
          </a:xfrm>
          <a:prstGeom prst="rect">
            <a:avLst/>
          </a:prstGeom>
          <a:noFill/>
        </p:spPr>
        <p:txBody>
          <a:bodyPr wrap="square"/>
          <a:lstStyle/>
          <a:p>
            <a:pPr algn="l">
              <a:defRPr sz="1300" b="1">
                <a:solidFill>
                  <a:srgbClr val="0B3D2E"/>
                </a:solidFill>
                <a:latin typeface="Calibri"/>
              </a:defRPr>
            </a:pPr>
            <a:r>
              <a:t>AFTER CUSTOMER RESEARCH</a:t>
            </a:r>
          </a:p>
          <a:p>
            <a:pPr algn="l">
              <a:spcBef>
                <a:spcPts val="1000"/>
              </a:spcBef>
              <a:defRPr sz="1300" b="0">
                <a:solidFill>
                  <a:srgbClr val="000000"/>
                </a:solidFill>
                <a:latin typeface="Calibri"/>
              </a:defRPr>
            </a:pPr>
            <a:r>
              <a:t>Show me what product context should change based on these findings. Propose the changes on a branch so I can review them before anything becomes part of main.</a:t>
            </a:r>
          </a:p>
        </p:txBody>
      </p:sp>
      <p:sp>
        <p:nvSpPr>
          <p:cNvPr id="5" name="Rounded Rectangle 4"/>
          <p:cNvSpPr/>
          <p:nvPr/>
        </p:nvSpPr>
        <p:spPr>
          <a:xfrm>
            <a:off x="4206240" y="1371600"/>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0" y="1508760"/>
            <a:ext cx="3200400" cy="1828800"/>
          </a:xfrm>
          <a:prstGeom prst="rect">
            <a:avLst/>
          </a:prstGeom>
          <a:noFill/>
        </p:spPr>
        <p:txBody>
          <a:bodyPr wrap="square"/>
          <a:lstStyle/>
          <a:p>
            <a:pPr algn="l">
              <a:defRPr sz="1300" b="1">
                <a:solidFill>
                  <a:srgbClr val="0B3D2E"/>
                </a:solidFill>
                <a:latin typeface="Calibri"/>
              </a:defRPr>
            </a:pPr>
            <a:r>
              <a:t>AFTER AN AI WORKING SESSION</a:t>
            </a:r>
          </a:p>
          <a:p>
            <a:pPr algn="l">
              <a:spcBef>
                <a:spcPts val="1000"/>
              </a:spcBef>
              <a:defRPr sz="1300" b="0">
                <a:solidFill>
                  <a:srgbClr val="000000"/>
                </a:solidFill>
                <a:latin typeface="Calibri"/>
              </a:defRPr>
            </a:pPr>
            <a:r>
              <a:t>Compare what we just produced with the team's trusted version. Show me the meaningful differences and ask before committing or merging anything.</a:t>
            </a:r>
          </a:p>
        </p:txBody>
      </p:sp>
      <p:sp>
        <p:nvSpPr>
          <p:cNvPr id="7" name="Rounded Rectangle 6"/>
          <p:cNvSpPr/>
          <p:nvPr/>
        </p:nvSpPr>
        <p:spPr>
          <a:xfrm>
            <a:off x="7955279" y="1371600"/>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59" y="1508760"/>
            <a:ext cx="3200400" cy="1828800"/>
          </a:xfrm>
          <a:prstGeom prst="rect">
            <a:avLst/>
          </a:prstGeom>
          <a:noFill/>
        </p:spPr>
        <p:txBody>
          <a:bodyPr wrap="square"/>
          <a:lstStyle/>
          <a:p>
            <a:pPr algn="l">
              <a:defRPr sz="1300" b="1">
                <a:solidFill>
                  <a:srgbClr val="0B3D2E"/>
                </a:solidFill>
                <a:latin typeface="Calibri"/>
              </a:defRPr>
            </a:pPr>
            <a:r>
              <a:t>WHEN EXPLORING ALTERNATIVES</a:t>
            </a:r>
          </a:p>
          <a:p>
            <a:pPr algn="l">
              <a:spcBef>
                <a:spcPts val="1000"/>
              </a:spcBef>
              <a:defRPr sz="1300" b="0">
                <a:solidFill>
                  <a:srgbClr val="000000"/>
                </a:solidFill>
                <a:latin typeface="Calibri"/>
              </a:defRPr>
            </a:pPr>
            <a:r>
              <a:t>Create separate branches from the latest main so we can explore both approaches without overwriting each other. Later, help us compare the differences.</a:t>
            </a:r>
          </a:p>
        </p:txBody>
      </p:sp>
      <p:sp>
        <p:nvSpPr>
          <p:cNvPr id="9" name="Rounded Rectangle 8"/>
          <p:cNvSpPr/>
          <p:nvPr/>
        </p:nvSpPr>
        <p:spPr>
          <a:xfrm>
            <a:off x="457200" y="3749039"/>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886199"/>
            <a:ext cx="3200400" cy="1828800"/>
          </a:xfrm>
          <a:prstGeom prst="rect">
            <a:avLst/>
          </a:prstGeom>
          <a:noFill/>
        </p:spPr>
        <p:txBody>
          <a:bodyPr wrap="square"/>
          <a:lstStyle/>
          <a:p>
            <a:pPr algn="l">
              <a:defRPr sz="1300" b="1">
                <a:solidFill>
                  <a:srgbClr val="0B3D2E"/>
                </a:solidFill>
                <a:latin typeface="Calibri"/>
              </a:defRPr>
            </a:pPr>
            <a:r>
              <a:t>TRACING DECISIONS 3 MONTHS LATER</a:t>
            </a:r>
          </a:p>
          <a:p>
            <a:pPr algn="l">
              <a:spcBef>
                <a:spcPts val="1000"/>
              </a:spcBef>
              <a:defRPr sz="1300" b="0">
                <a:solidFill>
                  <a:srgbClr val="000000"/>
                </a:solidFill>
                <a:latin typeface="Calibri"/>
              </a:defRPr>
            </a:pPr>
            <a:r>
              <a:t>Help me trace when and why we changed this decision. Use the repository history and summarize the relevant commits and review trail.</a:t>
            </a:r>
          </a:p>
        </p:txBody>
      </p:sp>
      <p:sp>
        <p:nvSpPr>
          <p:cNvPr id="11" name="Rounded Rectangle 10"/>
          <p:cNvSpPr/>
          <p:nvPr/>
        </p:nvSpPr>
        <p:spPr>
          <a:xfrm>
            <a:off x="4206240" y="3749039"/>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3886199"/>
            <a:ext cx="3200400" cy="1828800"/>
          </a:xfrm>
          <a:prstGeom prst="rect">
            <a:avLst/>
          </a:prstGeom>
          <a:noFill/>
        </p:spPr>
        <p:txBody>
          <a:bodyPr wrap="square"/>
          <a:lstStyle/>
          <a:p>
            <a:pPr algn="l">
              <a:defRPr sz="1300" b="1">
                <a:solidFill>
                  <a:srgbClr val="0B3D2E"/>
                </a:solidFill>
                <a:latin typeface="Calibri"/>
              </a:defRPr>
            </a:pPr>
            <a:r>
              <a:t>SETTING GUARDRAILS</a:t>
            </a:r>
          </a:p>
          <a:p>
            <a:pPr algn="l">
              <a:spcBef>
                <a:spcPts val="1000"/>
              </a:spcBef>
              <a:defRPr sz="1300" b="0">
                <a:solidFill>
                  <a:srgbClr val="000000"/>
                </a:solidFill>
                <a:latin typeface="Calibri"/>
              </a:defRPr>
            </a:pPr>
            <a:r>
              <a:t>Create a CONSTITUTION.md with these rules: no customer names, no material from client engagements, no credentials, private stays private, human review before anything leaves.</a:t>
            </a:r>
          </a:p>
        </p:txBody>
      </p:sp>
      <p:sp>
        <p:nvSpPr>
          <p:cNvPr id="13" name="Rounded Rectangle 12"/>
          <p:cNvSpPr/>
          <p:nvPr/>
        </p:nvSpPr>
        <p:spPr>
          <a:xfrm>
            <a:off x="7955279" y="3749039"/>
            <a:ext cx="356616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59" y="3886199"/>
            <a:ext cx="3200400" cy="1828800"/>
          </a:xfrm>
          <a:prstGeom prst="rect">
            <a:avLst/>
          </a:prstGeom>
          <a:noFill/>
        </p:spPr>
        <p:txBody>
          <a:bodyPr wrap="square"/>
          <a:lstStyle/>
          <a:p>
            <a:pPr algn="l">
              <a:defRPr sz="1300" b="1">
                <a:solidFill>
                  <a:srgbClr val="0B3D2E"/>
                </a:solidFill>
                <a:latin typeface="Calibri"/>
              </a:defRPr>
            </a:pPr>
            <a:r>
              <a:t>STARTING THE WEEK</a:t>
            </a:r>
          </a:p>
          <a:p>
            <a:pPr algn="l">
              <a:spcBef>
                <a:spcPts val="1000"/>
              </a:spcBef>
              <a:defRPr sz="1300" b="0">
                <a:solidFill>
                  <a:srgbClr val="000000"/>
                </a:solidFill>
                <a:latin typeface="Calibri"/>
              </a:defRPr>
            </a:pPr>
            <a:r>
              <a:t>Bring me up to speed. What changed in this repository since Friday? Summarize the product decisions, not just the file edits.</a:t>
            </a:r>
          </a:p>
        </p:txBody>
      </p:sp>
      <p:sp>
        <p:nvSpPr>
          <p:cNvPr id="15" name="TextBox 14"/>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274320"/>
            <a:ext cx="10058400" cy="914400"/>
          </a:xfrm>
          <a:prstGeom prst="rect">
            <a:avLst/>
          </a:prstGeom>
          <a:noFill/>
        </p:spPr>
        <p:txBody>
          <a:bodyPr wrap="square"/>
          <a:lstStyle/>
          <a:p>
            <a:pPr algn="l">
              <a:defRPr sz="4800" b="1">
                <a:solidFill>
                  <a:srgbClr val="FFFFFF"/>
                </a:solidFill>
                <a:latin typeface="Calibri"/>
              </a:defRPr>
            </a:pPr>
            <a:r>
              <a:t>Why GitHub.</a:t>
            </a:r>
          </a:p>
        </p:txBody>
      </p:sp>
      <p:sp>
        <p:nvSpPr>
          <p:cNvPr id="3" name="TextBox 2"/>
          <p:cNvSpPr txBox="1"/>
          <p:nvPr/>
        </p:nvSpPr>
        <p:spPr>
          <a:xfrm>
            <a:off x="731520" y="1005840"/>
            <a:ext cx="10058400" cy="457200"/>
          </a:xfrm>
          <a:prstGeom prst="rect">
            <a:avLst/>
          </a:prstGeom>
          <a:noFill/>
        </p:spPr>
        <p:txBody>
          <a:bodyPr wrap="square"/>
          <a:lstStyle/>
          <a:p>
            <a:pPr algn="l">
              <a:defRPr sz="1600" b="0">
                <a:solidFill>
                  <a:srgbClr val="F5E6CC"/>
                </a:solidFill>
                <a:latin typeface="Calibri"/>
              </a:defRPr>
            </a:pPr>
            <a:r>
              <a:t>GitHub is not a document manager. It is infrastructure for product context that is actively evolving, contested, and needs to be traceable.</a:t>
            </a:r>
          </a:p>
        </p:txBody>
      </p:sp>
      <p:sp>
        <p:nvSpPr>
          <p:cNvPr id="4" name="Rounded Rectangle 3"/>
          <p:cNvSpPr/>
          <p:nvPr/>
        </p:nvSpPr>
        <p:spPr>
          <a:xfrm>
            <a:off x="457200" y="164592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2743200" cy="457200"/>
          </a:xfrm>
          <a:prstGeom prst="rect">
            <a:avLst/>
          </a:prstGeom>
          <a:noFill/>
        </p:spPr>
        <p:txBody>
          <a:bodyPr wrap="square"/>
          <a:lstStyle/>
          <a:p>
            <a:pPr algn="l">
              <a:defRPr sz="1600" b="1">
                <a:solidFill>
                  <a:srgbClr val="4ADE80"/>
                </a:solidFill>
                <a:latin typeface="Calibri"/>
              </a:defRPr>
            </a:pPr>
            <a:r>
              <a:t>Line-level diff</a:t>
            </a:r>
          </a:p>
        </p:txBody>
      </p:sp>
      <p:sp>
        <p:nvSpPr>
          <p:cNvPr id="6" name="TextBox 5"/>
          <p:cNvSpPr txBox="1"/>
          <p:nvPr/>
        </p:nvSpPr>
        <p:spPr>
          <a:xfrm>
            <a:off x="3566160" y="1737360"/>
            <a:ext cx="8046720" cy="457200"/>
          </a:xfrm>
          <a:prstGeom prst="rect">
            <a:avLst/>
          </a:prstGeom>
          <a:noFill/>
        </p:spPr>
        <p:txBody>
          <a:bodyPr wrap="square"/>
          <a:lstStyle/>
          <a:p>
            <a:pPr algn="l">
              <a:defRPr sz="1400" b="0">
                <a:solidFill>
                  <a:srgbClr val="FFFFFF"/>
                </a:solidFill>
                <a:latin typeface="Calibri"/>
              </a:defRPr>
            </a:pPr>
            <a:r>
              <a:t>See exactly what changed in a strategy document, a prompt, or a requirement — not just "edited by Dean, March 14"</a:t>
            </a:r>
          </a:p>
        </p:txBody>
      </p:sp>
      <p:sp>
        <p:nvSpPr>
          <p:cNvPr id="7" name="Rounded Rectangle 6"/>
          <p:cNvSpPr/>
          <p:nvPr/>
        </p:nvSpPr>
        <p:spPr>
          <a:xfrm>
            <a:off x="457200" y="228600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77440"/>
            <a:ext cx="2743200" cy="457200"/>
          </a:xfrm>
          <a:prstGeom prst="rect">
            <a:avLst/>
          </a:prstGeom>
          <a:noFill/>
        </p:spPr>
        <p:txBody>
          <a:bodyPr wrap="square"/>
          <a:lstStyle/>
          <a:p>
            <a:pPr algn="l">
              <a:defRPr sz="1600" b="1">
                <a:solidFill>
                  <a:srgbClr val="4ADE80"/>
                </a:solidFill>
                <a:latin typeface="Calibri"/>
              </a:defRPr>
            </a:pPr>
            <a:r>
              <a:t>Branching</a:t>
            </a:r>
          </a:p>
        </p:txBody>
      </p:sp>
      <p:sp>
        <p:nvSpPr>
          <p:cNvPr id="9" name="TextBox 8"/>
          <p:cNvSpPr txBox="1"/>
          <p:nvPr/>
        </p:nvSpPr>
        <p:spPr>
          <a:xfrm>
            <a:off x="3566160" y="2377440"/>
            <a:ext cx="8046720" cy="457200"/>
          </a:xfrm>
          <a:prstGeom prst="rect">
            <a:avLst/>
          </a:prstGeom>
          <a:noFill/>
        </p:spPr>
        <p:txBody>
          <a:bodyPr wrap="square"/>
          <a:lstStyle/>
          <a:p>
            <a:pPr algn="l">
              <a:defRPr sz="1400" b="0">
                <a:solidFill>
                  <a:srgbClr val="FFFFFF"/>
                </a:solidFill>
                <a:latin typeface="Calibri"/>
              </a:defRPr>
            </a:pPr>
            <a:r>
              <a:t>Three people explore competing interpretations of new evidence without overwriting each other</a:t>
            </a:r>
          </a:p>
        </p:txBody>
      </p:sp>
      <p:sp>
        <p:nvSpPr>
          <p:cNvPr id="10" name="Rounded Rectangle 9"/>
          <p:cNvSpPr/>
          <p:nvPr/>
        </p:nvSpPr>
        <p:spPr>
          <a:xfrm>
            <a:off x="457200" y="292608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17520"/>
            <a:ext cx="2743200" cy="457200"/>
          </a:xfrm>
          <a:prstGeom prst="rect">
            <a:avLst/>
          </a:prstGeom>
          <a:noFill/>
        </p:spPr>
        <p:txBody>
          <a:bodyPr wrap="square"/>
          <a:lstStyle/>
          <a:p>
            <a:pPr algn="l">
              <a:defRPr sz="1600" b="1">
                <a:solidFill>
                  <a:srgbClr val="4ADE80"/>
                </a:solidFill>
                <a:latin typeface="Calibri"/>
              </a:defRPr>
            </a:pPr>
            <a:r>
              <a:t>Commit messages</a:t>
            </a:r>
          </a:p>
        </p:txBody>
      </p:sp>
      <p:sp>
        <p:nvSpPr>
          <p:cNvPr id="12" name="TextBox 11"/>
          <p:cNvSpPr txBox="1"/>
          <p:nvPr/>
        </p:nvSpPr>
        <p:spPr>
          <a:xfrm>
            <a:off x="3566160" y="3017520"/>
            <a:ext cx="8046720" cy="457200"/>
          </a:xfrm>
          <a:prstGeom prst="rect">
            <a:avLst/>
          </a:prstGeom>
          <a:noFill/>
        </p:spPr>
        <p:txBody>
          <a:bodyPr wrap="square"/>
          <a:lstStyle/>
          <a:p>
            <a:pPr algn="l">
              <a:defRPr sz="1400" b="0">
                <a:solidFill>
                  <a:srgbClr val="FFFFFF"/>
                </a:solidFill>
                <a:latin typeface="Calibri"/>
              </a:defRPr>
            </a:pPr>
            <a:r>
              <a:t>The reasoning travels with the change, creating a trail of product logic, not just a timestamp</a:t>
            </a:r>
          </a:p>
        </p:txBody>
      </p:sp>
      <p:sp>
        <p:nvSpPr>
          <p:cNvPr id="13" name="Rounded Rectangle 12"/>
          <p:cNvSpPr/>
          <p:nvPr/>
        </p:nvSpPr>
        <p:spPr>
          <a:xfrm>
            <a:off x="457200" y="356616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57600"/>
            <a:ext cx="2743200" cy="457200"/>
          </a:xfrm>
          <a:prstGeom prst="rect">
            <a:avLst/>
          </a:prstGeom>
          <a:noFill/>
        </p:spPr>
        <p:txBody>
          <a:bodyPr wrap="square"/>
          <a:lstStyle/>
          <a:p>
            <a:pPr algn="l">
              <a:defRPr sz="1600" b="1">
                <a:solidFill>
                  <a:srgbClr val="4ADE80"/>
                </a:solidFill>
                <a:latin typeface="Calibri"/>
              </a:defRPr>
            </a:pPr>
            <a:r>
              <a:t>Pull request review</a:t>
            </a:r>
          </a:p>
        </p:txBody>
      </p:sp>
      <p:sp>
        <p:nvSpPr>
          <p:cNvPr id="15" name="TextBox 14"/>
          <p:cNvSpPr txBox="1"/>
          <p:nvPr/>
        </p:nvSpPr>
        <p:spPr>
          <a:xfrm>
            <a:off x="3566160" y="3657600"/>
            <a:ext cx="8046720" cy="457200"/>
          </a:xfrm>
          <a:prstGeom prst="rect">
            <a:avLst/>
          </a:prstGeom>
          <a:noFill/>
        </p:spPr>
        <p:txBody>
          <a:bodyPr wrap="square"/>
          <a:lstStyle/>
          <a:p>
            <a:pPr algn="l">
              <a:defRPr sz="1400" b="0">
                <a:solidFill>
                  <a:srgbClr val="FFFFFF"/>
                </a:solidFill>
                <a:latin typeface="Calibri"/>
              </a:defRPr>
            </a:pPr>
            <a:r>
              <a:t>Propose a change, see the diff, discuss it, approve or reject before it becomes trusted context</a:t>
            </a:r>
          </a:p>
        </p:txBody>
      </p:sp>
      <p:sp>
        <p:nvSpPr>
          <p:cNvPr id="16" name="Rounded Rectangle 15"/>
          <p:cNvSpPr/>
          <p:nvPr/>
        </p:nvSpPr>
        <p:spPr>
          <a:xfrm>
            <a:off x="457200" y="420624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97680"/>
            <a:ext cx="2743200" cy="457200"/>
          </a:xfrm>
          <a:prstGeom prst="rect">
            <a:avLst/>
          </a:prstGeom>
          <a:noFill/>
        </p:spPr>
        <p:txBody>
          <a:bodyPr wrap="square"/>
          <a:lstStyle/>
          <a:p>
            <a:pPr algn="l">
              <a:defRPr sz="1600" b="1">
                <a:solidFill>
                  <a:srgbClr val="4ADE80"/>
                </a:solidFill>
                <a:latin typeface="Calibri"/>
              </a:defRPr>
            </a:pPr>
            <a:r>
              <a:t>GitHub Actions</a:t>
            </a:r>
          </a:p>
        </p:txBody>
      </p:sp>
      <p:sp>
        <p:nvSpPr>
          <p:cNvPr id="18" name="TextBox 17"/>
          <p:cNvSpPr txBox="1"/>
          <p:nvPr/>
        </p:nvSpPr>
        <p:spPr>
          <a:xfrm>
            <a:off x="3566160" y="4297680"/>
            <a:ext cx="8046720" cy="457200"/>
          </a:xfrm>
          <a:prstGeom prst="rect">
            <a:avLst/>
          </a:prstGeom>
          <a:noFill/>
        </p:spPr>
        <p:txBody>
          <a:bodyPr wrap="square"/>
          <a:lstStyle/>
          <a:p>
            <a:pPr algn="l">
              <a:defRPr sz="1400" b="0">
                <a:solidFill>
                  <a:srgbClr val="FFFFFF"/>
                </a:solidFill>
                <a:latin typeface="Calibri"/>
              </a:defRPr>
            </a:pPr>
            <a:r>
              <a:t>Automate guardrails: block client names, check for credentials, validate structure on every PR</a:t>
            </a:r>
          </a:p>
        </p:txBody>
      </p:sp>
      <p:sp>
        <p:nvSpPr>
          <p:cNvPr id="19" name="Rounded Rectangle 18"/>
          <p:cNvSpPr/>
          <p:nvPr/>
        </p:nvSpPr>
        <p:spPr>
          <a:xfrm>
            <a:off x="457200" y="484632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937760"/>
            <a:ext cx="2743200" cy="457200"/>
          </a:xfrm>
          <a:prstGeom prst="rect">
            <a:avLst/>
          </a:prstGeom>
          <a:noFill/>
        </p:spPr>
        <p:txBody>
          <a:bodyPr wrap="square"/>
          <a:lstStyle/>
          <a:p>
            <a:pPr algn="l">
              <a:defRPr sz="1600" b="1">
                <a:solidFill>
                  <a:srgbClr val="4ADE80"/>
                </a:solidFill>
                <a:latin typeface="Calibri"/>
              </a:defRPr>
            </a:pPr>
            <a:r>
              <a:t>AI harness integration</a:t>
            </a:r>
          </a:p>
        </p:txBody>
      </p:sp>
      <p:sp>
        <p:nvSpPr>
          <p:cNvPr id="21" name="TextBox 20"/>
          <p:cNvSpPr txBox="1"/>
          <p:nvPr/>
        </p:nvSpPr>
        <p:spPr>
          <a:xfrm>
            <a:off x="3566160" y="4937760"/>
            <a:ext cx="8046720" cy="457200"/>
          </a:xfrm>
          <a:prstGeom prst="rect">
            <a:avLst/>
          </a:prstGeom>
          <a:noFill/>
        </p:spPr>
        <p:txBody>
          <a:bodyPr wrap="square"/>
          <a:lstStyle/>
          <a:p>
            <a:pPr algn="l">
              <a:defRPr sz="1400" b="0">
                <a:solidFill>
                  <a:srgbClr val="FFFFFF"/>
                </a:solidFill>
                <a:latin typeface="Calibri"/>
              </a:defRPr>
            </a:pPr>
            <a:r>
              <a:t>Claude Code and Codex read the repo directly. The AI works from the team's actual context, not a pasted clipboard</a:t>
            </a:r>
          </a:p>
        </p:txBody>
      </p:sp>
      <p:sp>
        <p:nvSpPr>
          <p:cNvPr id="22" name="Rounded Rectangle 21"/>
          <p:cNvSpPr/>
          <p:nvPr/>
        </p:nvSpPr>
        <p:spPr>
          <a:xfrm>
            <a:off x="457200" y="5486400"/>
            <a:ext cx="2926080" cy="5486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577840"/>
            <a:ext cx="2743200" cy="457200"/>
          </a:xfrm>
          <a:prstGeom prst="rect">
            <a:avLst/>
          </a:prstGeom>
          <a:noFill/>
        </p:spPr>
        <p:txBody>
          <a:bodyPr wrap="square"/>
          <a:lstStyle/>
          <a:p>
            <a:pPr algn="l">
              <a:defRPr sz="1600" b="1">
                <a:solidFill>
                  <a:srgbClr val="4ADE80"/>
                </a:solidFill>
                <a:latin typeface="Calibri"/>
              </a:defRPr>
            </a:pPr>
            <a:r>
              <a:t>Fork and reuse</a:t>
            </a:r>
          </a:p>
        </p:txBody>
      </p:sp>
      <p:sp>
        <p:nvSpPr>
          <p:cNvPr id="24" name="TextBox 23"/>
          <p:cNvSpPr txBox="1"/>
          <p:nvPr/>
        </p:nvSpPr>
        <p:spPr>
          <a:xfrm>
            <a:off x="3566160" y="5577840"/>
            <a:ext cx="8046720" cy="457200"/>
          </a:xfrm>
          <a:prstGeom prst="rect">
            <a:avLst/>
          </a:prstGeom>
          <a:noFill/>
        </p:spPr>
        <p:txBody>
          <a:bodyPr wrap="square"/>
          <a:lstStyle/>
          <a:p>
            <a:pPr algn="l">
              <a:defRPr sz="1400" b="0">
                <a:solidFill>
                  <a:srgbClr val="FFFFFF"/>
                </a:solidFill>
                <a:latin typeface="Calibri"/>
              </a:defRPr>
            </a:pPr>
            <a:r>
              <a:t>Another team can adopt your playbook, adapt it, and contribute back improvements</a:t>
            </a:r>
          </a:p>
        </p:txBody>
      </p:sp>
      <p:sp>
        <p:nvSpPr>
          <p:cNvPr id="25" name="TextBox 24"/>
          <p:cNvSpPr txBox="1"/>
          <p:nvPr/>
        </p:nvSpPr>
        <p:spPr>
          <a:xfrm>
            <a:off x="731520" y="6126480"/>
            <a:ext cx="10515600" cy="365760"/>
          </a:xfrm>
          <a:prstGeom prst="rect">
            <a:avLst/>
          </a:prstGeom>
          <a:noFill/>
        </p:spPr>
        <p:txBody>
          <a:bodyPr wrap="square"/>
          <a:lstStyle/>
          <a:p>
            <a:pPr algn="ctr">
              <a:defRPr sz="1500" b="1">
                <a:solidFill>
                  <a:srgbClr val="4ADE80"/>
                </a:solidFill>
                <a:latin typeface="Calibri"/>
              </a:defRPr>
            </a:pPr>
            <a:r>
              <a:t>In plain English: GitHub is where the thinking is still being argued. Everything else stores the result after the argument is over.</a:t>
            </a:r>
          </a:p>
        </p:txBody>
      </p:sp>
      <p:sp>
        <p:nvSpPr>
          <p:cNvPr id="26" name="TextBox 25"/>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274320"/>
            <a:ext cx="10058400" cy="914400"/>
          </a:xfrm>
          <a:prstGeom prst="rect">
            <a:avLst/>
          </a:prstGeom>
          <a:noFill/>
        </p:spPr>
        <p:txBody>
          <a:bodyPr wrap="square"/>
          <a:lstStyle/>
          <a:p>
            <a:pPr algn="l">
              <a:defRPr sz="4400" b="1">
                <a:solidFill>
                  <a:srgbClr val="FFFFFF"/>
                </a:solidFill>
                <a:latin typeface="Calibri"/>
              </a:defRPr>
            </a:pPr>
            <a:r>
              <a:t>"But we already have..."</a:t>
            </a:r>
          </a:p>
        </p:txBody>
      </p:sp>
      <p:sp>
        <p:nvSpPr>
          <p:cNvPr id="3" name="TextBox 2"/>
          <p:cNvSpPr txBox="1"/>
          <p:nvPr/>
        </p:nvSpPr>
        <p:spPr>
          <a:xfrm>
            <a:off x="731520" y="1097280"/>
            <a:ext cx="10058400" cy="457200"/>
          </a:xfrm>
          <a:prstGeom prst="rect">
            <a:avLst/>
          </a:prstGeom>
          <a:noFill/>
        </p:spPr>
        <p:txBody>
          <a:bodyPr wrap="square"/>
          <a:lstStyle/>
          <a:p>
            <a:pPr algn="l">
              <a:defRPr sz="1800" b="0">
                <a:solidFill>
                  <a:srgbClr val="F5E6CC"/>
                </a:solidFill>
                <a:latin typeface="Calibri"/>
              </a:defRPr>
            </a:pPr>
            <a:r>
              <a:t>You do. And you should keep using those tools for what they are good at. The question is what they cannot do.</a:t>
            </a:r>
          </a:p>
        </p:txBody>
      </p:sp>
      <p:sp>
        <p:nvSpPr>
          <p:cNvPr id="4" name="Rounded Rectangle 3"/>
          <p:cNvSpPr/>
          <p:nvPr/>
        </p:nvSpPr>
        <p:spPr>
          <a:xfrm>
            <a:off x="457200" y="1828800"/>
            <a:ext cx="256032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20240"/>
            <a:ext cx="2377440" cy="822960"/>
          </a:xfrm>
          <a:prstGeom prst="rect">
            <a:avLst/>
          </a:prstGeom>
          <a:noFill/>
        </p:spPr>
        <p:txBody>
          <a:bodyPr wrap="square"/>
          <a:lstStyle/>
          <a:p>
            <a:pPr algn="ctr">
              <a:defRPr sz="1600" b="1">
                <a:solidFill>
                  <a:srgbClr val="FFFFFF"/>
                </a:solidFill>
                <a:latin typeface="Calibri"/>
              </a:defRPr>
            </a:pPr>
            <a:r>
              <a:t>SharePoint / Google Drive</a:t>
            </a:r>
          </a:p>
        </p:txBody>
      </p:sp>
      <p:sp>
        <p:nvSpPr>
          <p:cNvPr id="6" name="Rounded Rectangle 5"/>
          <p:cNvSpPr/>
          <p:nvPr/>
        </p:nvSpPr>
        <p:spPr>
          <a:xfrm>
            <a:off x="3200400" y="1828800"/>
            <a:ext cx="320040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0" y="1874520"/>
            <a:ext cx="3017520" cy="914400"/>
          </a:xfrm>
          <a:prstGeom prst="rect">
            <a:avLst/>
          </a:prstGeom>
          <a:noFill/>
        </p:spPr>
        <p:txBody>
          <a:bodyPr wrap="square"/>
          <a:lstStyle/>
          <a:p>
            <a:pPr algn="l">
              <a:defRPr sz="1100" b="1">
                <a:solidFill>
                  <a:srgbClr val="4ADE80"/>
                </a:solidFill>
                <a:latin typeface="Calibri"/>
              </a:defRPr>
            </a:pPr>
            <a:r>
              <a:t>Does well:</a:t>
            </a:r>
          </a:p>
          <a:p>
            <a:pPr algn="l">
              <a:spcBef>
                <a:spcPts val="200"/>
              </a:spcBef>
              <a:defRPr sz="1200" b="0">
                <a:solidFill>
                  <a:srgbClr val="FFFFFF"/>
                </a:solidFill>
                <a:latin typeface="Calibri"/>
              </a:defRPr>
            </a:pPr>
            <a:r>
              <a:t>Store, organize, and govern finalized documents.</a:t>
            </a:r>
          </a:p>
        </p:txBody>
      </p:sp>
      <p:sp>
        <p:nvSpPr>
          <p:cNvPr id="8" name="Rounded Rectangle 7"/>
          <p:cNvSpPr/>
          <p:nvPr/>
        </p:nvSpPr>
        <p:spPr>
          <a:xfrm>
            <a:off x="6583680" y="1828800"/>
            <a:ext cx="512064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874520"/>
            <a:ext cx="4937760" cy="914400"/>
          </a:xfrm>
          <a:prstGeom prst="rect">
            <a:avLst/>
          </a:prstGeom>
          <a:noFill/>
        </p:spPr>
        <p:txBody>
          <a:bodyPr wrap="square"/>
          <a:lstStyle/>
          <a:p>
            <a:pPr algn="l">
              <a:defRPr sz="1100" b="1">
                <a:solidFill>
                  <a:srgbClr val="FF8888"/>
                </a:solidFill>
                <a:latin typeface="Calibri"/>
              </a:defRPr>
            </a:pPr>
            <a:r>
              <a:t>Cannot do:</a:t>
            </a:r>
          </a:p>
          <a:p>
            <a:pPr algn="l">
              <a:spcBef>
                <a:spcPts val="200"/>
              </a:spcBef>
              <a:defRPr sz="1200" b="0">
                <a:solidFill>
                  <a:srgbClr val="FFFFFF"/>
                </a:solidFill>
                <a:latin typeface="Calibri"/>
              </a:defRPr>
            </a:pPr>
            <a:r>
              <a:t>Show you exactly what changed between two versions, who changed it, and why. No line-level diff. No branching. No concurrent editing without FINAL_v7 naming.</a:t>
            </a:r>
          </a:p>
        </p:txBody>
      </p:sp>
      <p:sp>
        <p:nvSpPr>
          <p:cNvPr id="10" name="Rounded Rectangle 9"/>
          <p:cNvSpPr/>
          <p:nvPr/>
        </p:nvSpPr>
        <p:spPr>
          <a:xfrm>
            <a:off x="457200" y="3017520"/>
            <a:ext cx="256032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08960"/>
            <a:ext cx="2377440" cy="822960"/>
          </a:xfrm>
          <a:prstGeom prst="rect">
            <a:avLst/>
          </a:prstGeom>
          <a:noFill/>
        </p:spPr>
        <p:txBody>
          <a:bodyPr wrap="square"/>
          <a:lstStyle/>
          <a:p>
            <a:pPr algn="ctr">
              <a:defRPr sz="1600" b="1">
                <a:solidFill>
                  <a:srgbClr val="FFFFFF"/>
                </a:solidFill>
                <a:latin typeface="Calibri"/>
              </a:defRPr>
            </a:pPr>
            <a:r>
              <a:t>Confluence</a:t>
            </a:r>
          </a:p>
        </p:txBody>
      </p:sp>
      <p:sp>
        <p:nvSpPr>
          <p:cNvPr id="12" name="Rounded Rectangle 11"/>
          <p:cNvSpPr/>
          <p:nvPr/>
        </p:nvSpPr>
        <p:spPr>
          <a:xfrm>
            <a:off x="3200400" y="3017520"/>
            <a:ext cx="320040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3063240"/>
            <a:ext cx="3017520" cy="914400"/>
          </a:xfrm>
          <a:prstGeom prst="rect">
            <a:avLst/>
          </a:prstGeom>
          <a:noFill/>
        </p:spPr>
        <p:txBody>
          <a:bodyPr wrap="square"/>
          <a:lstStyle/>
          <a:p>
            <a:pPr algn="l">
              <a:defRPr sz="1100" b="1">
                <a:solidFill>
                  <a:srgbClr val="4ADE80"/>
                </a:solidFill>
                <a:latin typeface="Calibri"/>
              </a:defRPr>
            </a:pPr>
            <a:r>
              <a:t>Does well:</a:t>
            </a:r>
          </a:p>
          <a:p>
            <a:pPr algn="l">
              <a:spcBef>
                <a:spcPts val="200"/>
              </a:spcBef>
              <a:defRPr sz="1200" b="0">
                <a:solidFill>
                  <a:srgbClr val="FFFFFF"/>
                </a:solidFill>
                <a:latin typeface="Calibri"/>
              </a:defRPr>
            </a:pPr>
            <a:r>
              <a:t>Publish and navigate shared knowledge.</a:t>
            </a:r>
          </a:p>
        </p:txBody>
      </p:sp>
      <p:sp>
        <p:nvSpPr>
          <p:cNvPr id="14" name="Rounded Rectangle 13"/>
          <p:cNvSpPr/>
          <p:nvPr/>
        </p:nvSpPr>
        <p:spPr>
          <a:xfrm>
            <a:off x="6583680" y="3017520"/>
            <a:ext cx="512064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3063240"/>
            <a:ext cx="4937760" cy="914400"/>
          </a:xfrm>
          <a:prstGeom prst="rect">
            <a:avLst/>
          </a:prstGeom>
          <a:noFill/>
        </p:spPr>
        <p:txBody>
          <a:bodyPr wrap="square"/>
          <a:lstStyle/>
          <a:p>
            <a:pPr algn="l">
              <a:defRPr sz="1100" b="1">
                <a:solidFill>
                  <a:srgbClr val="FF8888"/>
                </a:solidFill>
                <a:latin typeface="Calibri"/>
              </a:defRPr>
            </a:pPr>
            <a:r>
              <a:t>Cannot do:</a:t>
            </a:r>
          </a:p>
          <a:p>
            <a:pPr algn="l">
              <a:spcBef>
                <a:spcPts val="200"/>
              </a:spcBef>
              <a:defRPr sz="1200" b="0">
                <a:solidFill>
                  <a:srgbClr val="FFFFFF"/>
                </a:solidFill>
                <a:latin typeface="Calibri"/>
              </a:defRPr>
            </a:pPr>
            <a:r>
              <a:t>Let three people explore competing interpretations on separate branches and compare the exact differences. Page history is snapshots, not a reviewable trail of reasoning.</a:t>
            </a:r>
          </a:p>
        </p:txBody>
      </p:sp>
      <p:sp>
        <p:nvSpPr>
          <p:cNvPr id="16" name="Rounded Rectangle 15"/>
          <p:cNvSpPr/>
          <p:nvPr/>
        </p:nvSpPr>
        <p:spPr>
          <a:xfrm>
            <a:off x="457200" y="4206240"/>
            <a:ext cx="256032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97680"/>
            <a:ext cx="2377440" cy="822960"/>
          </a:xfrm>
          <a:prstGeom prst="rect">
            <a:avLst/>
          </a:prstGeom>
          <a:noFill/>
        </p:spPr>
        <p:txBody>
          <a:bodyPr wrap="square"/>
          <a:lstStyle/>
          <a:p>
            <a:pPr algn="ctr">
              <a:defRPr sz="1600" b="1">
                <a:solidFill>
                  <a:srgbClr val="FFFFFF"/>
                </a:solidFill>
                <a:latin typeface="Calibri"/>
              </a:defRPr>
            </a:pPr>
            <a:r>
              <a:t>Claude Projects / ChatGPT Projects</a:t>
            </a:r>
          </a:p>
        </p:txBody>
      </p:sp>
      <p:sp>
        <p:nvSpPr>
          <p:cNvPr id="18" name="Rounded Rectangle 17"/>
          <p:cNvSpPr/>
          <p:nvPr/>
        </p:nvSpPr>
        <p:spPr>
          <a:xfrm>
            <a:off x="3200400" y="4206240"/>
            <a:ext cx="320040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91840" y="4251960"/>
            <a:ext cx="3017520" cy="914400"/>
          </a:xfrm>
          <a:prstGeom prst="rect">
            <a:avLst/>
          </a:prstGeom>
          <a:noFill/>
        </p:spPr>
        <p:txBody>
          <a:bodyPr wrap="square"/>
          <a:lstStyle/>
          <a:p>
            <a:pPr algn="l">
              <a:defRPr sz="1100" b="1">
                <a:solidFill>
                  <a:srgbClr val="4ADE80"/>
                </a:solidFill>
                <a:latin typeface="Calibri"/>
              </a:defRPr>
            </a:pPr>
            <a:r>
              <a:t>Does well:</a:t>
            </a:r>
          </a:p>
          <a:p>
            <a:pPr algn="l">
              <a:spcBef>
                <a:spcPts val="200"/>
              </a:spcBef>
              <a:defRPr sz="1200" b="0">
                <a:solidFill>
                  <a:srgbClr val="FFFFFF"/>
                </a:solidFill>
                <a:latin typeface="Calibri"/>
              </a:defRPr>
            </a:pPr>
            <a:r>
              <a:t>Give one person persistent AI context.</a:t>
            </a:r>
          </a:p>
        </p:txBody>
      </p:sp>
      <p:sp>
        <p:nvSpPr>
          <p:cNvPr id="20" name="Rounded Rectangle 19"/>
          <p:cNvSpPr/>
          <p:nvPr/>
        </p:nvSpPr>
        <p:spPr>
          <a:xfrm>
            <a:off x="6583680" y="4206240"/>
            <a:ext cx="512064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4251960"/>
            <a:ext cx="4937760" cy="914400"/>
          </a:xfrm>
          <a:prstGeom prst="rect">
            <a:avLst/>
          </a:prstGeom>
          <a:noFill/>
        </p:spPr>
        <p:txBody>
          <a:bodyPr wrap="square"/>
          <a:lstStyle/>
          <a:p>
            <a:pPr algn="l">
              <a:defRPr sz="1100" b="1">
                <a:solidFill>
                  <a:srgbClr val="FF8888"/>
                </a:solidFill>
                <a:latin typeface="Calibri"/>
              </a:defRPr>
            </a:pPr>
            <a:r>
              <a:t>Cannot do:</a:t>
            </a:r>
          </a:p>
          <a:p>
            <a:pPr algn="l">
              <a:spcBef>
                <a:spcPts val="200"/>
              </a:spcBef>
              <a:defRPr sz="1200" b="0">
                <a:solidFill>
                  <a:srgbClr val="FFFFFF"/>
                </a:solidFill>
                <a:latin typeface="Calibri"/>
              </a:defRPr>
            </a:pPr>
            <a:r>
              <a:t>Share that context across a team. Your AI session is yours. A colleague's is theirs. Neither sees what the other changed.</a:t>
            </a:r>
          </a:p>
        </p:txBody>
      </p:sp>
      <p:sp>
        <p:nvSpPr>
          <p:cNvPr id="22" name="Rounded Rectangle 21"/>
          <p:cNvSpPr/>
          <p:nvPr/>
        </p:nvSpPr>
        <p:spPr>
          <a:xfrm>
            <a:off x="457200" y="5394960"/>
            <a:ext cx="256032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486400"/>
            <a:ext cx="2377440" cy="822960"/>
          </a:xfrm>
          <a:prstGeom prst="rect">
            <a:avLst/>
          </a:prstGeom>
          <a:noFill/>
        </p:spPr>
        <p:txBody>
          <a:bodyPr wrap="square"/>
          <a:lstStyle/>
          <a:p>
            <a:pPr algn="ctr">
              <a:defRPr sz="1600" b="1">
                <a:solidFill>
                  <a:srgbClr val="FFFFFF"/>
                </a:solidFill>
                <a:latin typeface="Calibri"/>
              </a:defRPr>
            </a:pPr>
            <a:r>
              <a:t>Slack / Teams</a:t>
            </a:r>
          </a:p>
        </p:txBody>
      </p:sp>
      <p:sp>
        <p:nvSpPr>
          <p:cNvPr id="24" name="Rounded Rectangle 23"/>
          <p:cNvSpPr/>
          <p:nvPr/>
        </p:nvSpPr>
        <p:spPr>
          <a:xfrm>
            <a:off x="3200400" y="5394960"/>
            <a:ext cx="320040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5440680"/>
            <a:ext cx="3017520" cy="914400"/>
          </a:xfrm>
          <a:prstGeom prst="rect">
            <a:avLst/>
          </a:prstGeom>
          <a:noFill/>
        </p:spPr>
        <p:txBody>
          <a:bodyPr wrap="square"/>
          <a:lstStyle/>
          <a:p>
            <a:pPr algn="l">
              <a:defRPr sz="1100" b="1">
                <a:solidFill>
                  <a:srgbClr val="4ADE80"/>
                </a:solidFill>
                <a:latin typeface="Calibri"/>
              </a:defRPr>
            </a:pPr>
            <a:r>
              <a:t>Does well:</a:t>
            </a:r>
          </a:p>
          <a:p>
            <a:pPr algn="l">
              <a:spcBef>
                <a:spcPts val="200"/>
              </a:spcBef>
              <a:defRPr sz="1200" b="0">
                <a:solidFill>
                  <a:srgbClr val="FFFFFF"/>
                </a:solidFill>
                <a:latin typeface="Calibri"/>
              </a:defRPr>
            </a:pPr>
            <a:r>
              <a:t>Fast, informal conversation.</a:t>
            </a:r>
          </a:p>
        </p:txBody>
      </p:sp>
      <p:sp>
        <p:nvSpPr>
          <p:cNvPr id="26" name="Rounded Rectangle 25"/>
          <p:cNvSpPr/>
          <p:nvPr/>
        </p:nvSpPr>
        <p:spPr>
          <a:xfrm>
            <a:off x="6583680" y="5394960"/>
            <a:ext cx="5120640" cy="100584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5440680"/>
            <a:ext cx="4937760" cy="914400"/>
          </a:xfrm>
          <a:prstGeom prst="rect">
            <a:avLst/>
          </a:prstGeom>
          <a:noFill/>
        </p:spPr>
        <p:txBody>
          <a:bodyPr wrap="square"/>
          <a:lstStyle/>
          <a:p>
            <a:pPr algn="l">
              <a:defRPr sz="1100" b="1">
                <a:solidFill>
                  <a:srgbClr val="FF8888"/>
                </a:solidFill>
                <a:latin typeface="Calibri"/>
              </a:defRPr>
            </a:pPr>
            <a:r>
              <a:t>Cannot do:</a:t>
            </a:r>
          </a:p>
          <a:p>
            <a:pPr algn="l">
              <a:spcBef>
                <a:spcPts val="200"/>
              </a:spcBef>
              <a:defRPr sz="1200" b="0">
                <a:solidFill>
                  <a:srgbClr val="FFFFFF"/>
                </a:solidFill>
                <a:latin typeface="Calibri"/>
              </a:defRPr>
            </a:pPr>
            <a:r>
              <a:t>Preserve decisions. The answer to "when did we decide to change the positioning?" is never "scroll up."</a:t>
            </a:r>
          </a:p>
        </p:txBody>
      </p:sp>
      <p:sp>
        <p:nvSpPr>
          <p:cNvPr id="28" name="TextBox 27"/>
          <p:cNvSpPr txBox="1"/>
          <p:nvPr/>
        </p:nvSpPr>
        <p:spPr>
          <a:xfrm>
            <a:off x="731520" y="5943600"/>
            <a:ext cx="10515600" cy="457200"/>
          </a:xfrm>
          <a:prstGeom prst="rect">
            <a:avLst/>
          </a:prstGeom>
          <a:noFill/>
        </p:spPr>
        <p:txBody>
          <a:bodyPr wrap="square"/>
          <a:lstStyle/>
          <a:p>
            <a:pPr algn="ctr">
              <a:defRPr sz="1500" b="1">
                <a:solidFill>
                  <a:srgbClr val="4ADE80"/>
                </a:solidFill>
                <a:latin typeface="Calibri"/>
              </a:defRPr>
            </a:pPr>
            <a:r>
              <a:t>GitHub is not replacing any of these. It is the layer underneath for product context that is actively evolving, contested, and needs to be traceable.</a:t>
            </a:r>
          </a:p>
        </p:txBody>
      </p:sp>
      <p:sp>
        <p:nvSpPr>
          <p:cNvPr id="29" name="TextBox 28"/>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TextBox 1"/>
          <p:cNvSpPr txBox="1"/>
          <p:nvPr/>
        </p:nvSpPr>
        <p:spPr>
          <a:xfrm>
            <a:off x="731520" y="274320"/>
            <a:ext cx="10058400" cy="731520"/>
          </a:xfrm>
          <a:prstGeom prst="rect">
            <a:avLst/>
          </a:prstGeom>
          <a:noFill/>
        </p:spPr>
        <p:txBody>
          <a:bodyPr wrap="square"/>
          <a:lstStyle/>
          <a:p>
            <a:pPr algn="l">
              <a:defRPr sz="3600" b="1">
                <a:solidFill>
                  <a:srgbClr val="000000"/>
                </a:solidFill>
                <a:latin typeface="Calibri"/>
              </a:defRPr>
            </a:pPr>
            <a:r>
              <a:t>Where each tool fits.</a:t>
            </a:r>
          </a:p>
        </p:txBody>
      </p:sp>
      <p:sp>
        <p:nvSpPr>
          <p:cNvPr id="3" name="Rounded Rectangle 2"/>
          <p:cNvSpPr/>
          <p:nvPr/>
        </p:nvSpPr>
        <p:spPr>
          <a:xfrm>
            <a:off x="548640" y="1097280"/>
            <a:ext cx="2286000" cy="548640"/>
          </a:xfrm>
          <a:prstGeom prst="round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2103120" cy="457200"/>
          </a:xfrm>
          <a:prstGeom prst="rect">
            <a:avLst/>
          </a:prstGeom>
          <a:noFill/>
        </p:spPr>
        <p:txBody>
          <a:bodyPr wrap="square"/>
          <a:lstStyle/>
          <a:p>
            <a:pPr algn="ctr">
              <a:defRPr sz="1200" b="1">
                <a:solidFill>
                  <a:srgbClr val="FFFFFF"/>
                </a:solidFill>
                <a:latin typeface="Calibri"/>
              </a:defRPr>
            </a:pPr>
            <a:r>
              <a:t>Capability</a:t>
            </a:r>
          </a:p>
        </p:txBody>
      </p:sp>
      <p:sp>
        <p:nvSpPr>
          <p:cNvPr id="5" name="Rounded Rectangle 4"/>
          <p:cNvSpPr/>
          <p:nvPr/>
        </p:nvSpPr>
        <p:spPr>
          <a:xfrm>
            <a:off x="2926080" y="1097280"/>
            <a:ext cx="2011680" cy="548640"/>
          </a:xfrm>
          <a:prstGeom prst="round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0" y="1143000"/>
            <a:ext cx="1828800" cy="457200"/>
          </a:xfrm>
          <a:prstGeom prst="rect">
            <a:avLst/>
          </a:prstGeom>
          <a:noFill/>
        </p:spPr>
        <p:txBody>
          <a:bodyPr wrap="square"/>
          <a:lstStyle/>
          <a:p>
            <a:pPr algn="ctr">
              <a:defRPr sz="1200" b="1">
                <a:solidFill>
                  <a:srgbClr val="FFFFFF"/>
                </a:solidFill>
                <a:latin typeface="Calibri"/>
              </a:defRPr>
            </a:pPr>
            <a:r>
              <a:t>SharePoint /</a:t>
            </a:r>
            <a:br/>
            <a:r>
              <a:t>Confluence</a:t>
            </a:r>
          </a:p>
        </p:txBody>
      </p:sp>
      <p:sp>
        <p:nvSpPr>
          <p:cNvPr id="7" name="Rounded Rectangle 6"/>
          <p:cNvSpPr/>
          <p:nvPr/>
        </p:nvSpPr>
        <p:spPr>
          <a:xfrm>
            <a:off x="5029200" y="1097280"/>
            <a:ext cx="1645920" cy="548640"/>
          </a:xfrm>
          <a:prstGeom prst="round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20640" y="1143000"/>
            <a:ext cx="1463040" cy="457200"/>
          </a:xfrm>
          <a:prstGeom prst="rect">
            <a:avLst/>
          </a:prstGeom>
          <a:noFill/>
        </p:spPr>
        <p:txBody>
          <a:bodyPr wrap="square"/>
          <a:lstStyle/>
          <a:p>
            <a:pPr algn="ctr">
              <a:defRPr sz="1200" b="1">
                <a:solidFill>
                  <a:srgbClr val="FFFFFF"/>
                </a:solidFill>
                <a:latin typeface="Calibri"/>
              </a:defRPr>
            </a:pPr>
            <a:r>
              <a:t>Slack /</a:t>
            </a:r>
            <a:br/>
            <a:r>
              <a:t>Teams</a:t>
            </a:r>
          </a:p>
        </p:txBody>
      </p:sp>
      <p:sp>
        <p:nvSpPr>
          <p:cNvPr id="9" name="Rounded Rectangle 8"/>
          <p:cNvSpPr/>
          <p:nvPr/>
        </p:nvSpPr>
        <p:spPr>
          <a:xfrm>
            <a:off x="6766560" y="1097280"/>
            <a:ext cx="2286000" cy="548640"/>
          </a:xfrm>
          <a:prstGeom prst="round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143000"/>
            <a:ext cx="2103120" cy="457200"/>
          </a:xfrm>
          <a:prstGeom prst="rect">
            <a:avLst/>
          </a:prstGeom>
          <a:noFill/>
        </p:spPr>
        <p:txBody>
          <a:bodyPr wrap="square"/>
          <a:lstStyle/>
          <a:p>
            <a:pPr algn="ctr">
              <a:defRPr sz="1200" b="1">
                <a:solidFill>
                  <a:srgbClr val="FFFFFF"/>
                </a:solidFill>
                <a:latin typeface="Calibri"/>
              </a:defRPr>
            </a:pPr>
            <a:r>
              <a:t>Claude / ChatGPT</a:t>
            </a:r>
            <a:br/>
            <a:r>
              <a:t>Projects</a:t>
            </a:r>
          </a:p>
        </p:txBody>
      </p:sp>
      <p:sp>
        <p:nvSpPr>
          <p:cNvPr id="11" name="Rounded Rectangle 10"/>
          <p:cNvSpPr/>
          <p:nvPr/>
        </p:nvSpPr>
        <p:spPr>
          <a:xfrm>
            <a:off x="9144000" y="1097280"/>
            <a:ext cx="2286000" cy="548640"/>
          </a:xfrm>
          <a:prstGeom prst="roundRect">
            <a:avLst/>
          </a:prstGeom>
          <a:solidFill>
            <a:srgbClr val="0B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1143000"/>
            <a:ext cx="2103120" cy="457200"/>
          </a:xfrm>
          <a:prstGeom prst="rect">
            <a:avLst/>
          </a:prstGeom>
          <a:noFill/>
        </p:spPr>
        <p:txBody>
          <a:bodyPr wrap="square"/>
          <a:lstStyle/>
          <a:p>
            <a:pPr algn="ctr">
              <a:defRPr sz="1200" b="1">
                <a:solidFill>
                  <a:srgbClr val="FFFFFF"/>
                </a:solidFill>
                <a:latin typeface="Calibri"/>
              </a:defRPr>
            </a:pPr>
            <a:r>
              <a:t>GitHub</a:t>
            </a:r>
            <a:br/>
            <a:r>
              <a:t>(with AI Harness)</a:t>
            </a:r>
          </a:p>
        </p:txBody>
      </p:sp>
      <p:sp>
        <p:nvSpPr>
          <p:cNvPr id="13" name="Rectangle 12"/>
          <p:cNvSpPr/>
          <p:nvPr/>
        </p:nvSpPr>
        <p:spPr>
          <a:xfrm>
            <a:off x="548640" y="17830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828800"/>
            <a:ext cx="2103120" cy="320040"/>
          </a:xfrm>
          <a:prstGeom prst="rect">
            <a:avLst/>
          </a:prstGeom>
          <a:noFill/>
        </p:spPr>
        <p:txBody>
          <a:bodyPr wrap="square"/>
          <a:lstStyle/>
          <a:p>
            <a:pPr algn="l">
              <a:defRPr sz="1200" b="0">
                <a:solidFill>
                  <a:srgbClr val="000000"/>
                </a:solidFill>
                <a:latin typeface="Calibri"/>
              </a:defRPr>
            </a:pPr>
            <a:r>
              <a:t>Store finalized docs</a:t>
            </a:r>
          </a:p>
        </p:txBody>
      </p:sp>
      <p:sp>
        <p:nvSpPr>
          <p:cNvPr id="15" name="Rectangle 14"/>
          <p:cNvSpPr/>
          <p:nvPr/>
        </p:nvSpPr>
        <p:spPr>
          <a:xfrm>
            <a:off x="2926080" y="1783080"/>
            <a:ext cx="201168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7520" y="1828800"/>
            <a:ext cx="1828800" cy="320040"/>
          </a:xfrm>
          <a:prstGeom prst="rect">
            <a:avLst/>
          </a:prstGeom>
          <a:noFill/>
        </p:spPr>
        <p:txBody>
          <a:bodyPr wrap="square"/>
          <a:lstStyle/>
          <a:p>
            <a:pPr algn="ctr">
              <a:defRPr sz="1200" b="0">
                <a:solidFill>
                  <a:srgbClr val="000000"/>
                </a:solidFill>
                <a:latin typeface="Calibri"/>
              </a:defRPr>
            </a:pPr>
            <a:r>
              <a:t>Strong</a:t>
            </a:r>
          </a:p>
        </p:txBody>
      </p:sp>
      <p:sp>
        <p:nvSpPr>
          <p:cNvPr id="17" name="Rectangle 16"/>
          <p:cNvSpPr/>
          <p:nvPr/>
        </p:nvSpPr>
        <p:spPr>
          <a:xfrm>
            <a:off x="5029200" y="1783080"/>
            <a:ext cx="164592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18288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19" name="Rectangle 18"/>
          <p:cNvSpPr/>
          <p:nvPr/>
        </p:nvSpPr>
        <p:spPr>
          <a:xfrm>
            <a:off x="6766560" y="17830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18288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21" name="Rectangle 20"/>
          <p:cNvSpPr/>
          <p:nvPr/>
        </p:nvSpPr>
        <p:spPr>
          <a:xfrm>
            <a:off x="9144000" y="17830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0" y="1828800"/>
            <a:ext cx="2103120" cy="320040"/>
          </a:xfrm>
          <a:prstGeom prst="rect">
            <a:avLst/>
          </a:prstGeom>
          <a:noFill/>
        </p:spPr>
        <p:txBody>
          <a:bodyPr wrap="square"/>
          <a:lstStyle/>
          <a:p>
            <a:pPr algn="ctr">
              <a:defRPr sz="1200" b="0">
                <a:solidFill>
                  <a:srgbClr val="000000"/>
                </a:solidFill>
                <a:latin typeface="Calibri"/>
              </a:defRPr>
            </a:pPr>
            <a:r>
              <a:t>Possible</a:t>
            </a:r>
          </a:p>
        </p:txBody>
      </p:sp>
      <p:sp>
        <p:nvSpPr>
          <p:cNvPr id="23" name="Rectangle 22"/>
          <p:cNvSpPr/>
          <p:nvPr/>
        </p:nvSpPr>
        <p:spPr>
          <a:xfrm>
            <a:off x="548640" y="22402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2286000"/>
            <a:ext cx="2103120" cy="320040"/>
          </a:xfrm>
          <a:prstGeom prst="rect">
            <a:avLst/>
          </a:prstGeom>
          <a:noFill/>
        </p:spPr>
        <p:txBody>
          <a:bodyPr wrap="square"/>
          <a:lstStyle/>
          <a:p>
            <a:pPr algn="l">
              <a:defRPr sz="1200" b="0">
                <a:solidFill>
                  <a:srgbClr val="000000"/>
                </a:solidFill>
                <a:latin typeface="Calibri"/>
              </a:defRPr>
            </a:pPr>
            <a:r>
              <a:t>Real-time chat</a:t>
            </a:r>
          </a:p>
        </p:txBody>
      </p:sp>
      <p:sp>
        <p:nvSpPr>
          <p:cNvPr id="25" name="Rectangle 24"/>
          <p:cNvSpPr/>
          <p:nvPr/>
        </p:nvSpPr>
        <p:spPr>
          <a:xfrm>
            <a:off x="2926080" y="2240280"/>
            <a:ext cx="201168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17520" y="22860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27" name="Rectangle 26"/>
          <p:cNvSpPr/>
          <p:nvPr/>
        </p:nvSpPr>
        <p:spPr>
          <a:xfrm>
            <a:off x="5029200" y="2240280"/>
            <a:ext cx="164592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2286000"/>
            <a:ext cx="1463040" cy="320040"/>
          </a:xfrm>
          <a:prstGeom prst="rect">
            <a:avLst/>
          </a:prstGeom>
          <a:noFill/>
        </p:spPr>
        <p:txBody>
          <a:bodyPr wrap="square"/>
          <a:lstStyle/>
          <a:p>
            <a:pPr algn="ctr">
              <a:defRPr sz="1200" b="0">
                <a:solidFill>
                  <a:srgbClr val="000000"/>
                </a:solidFill>
                <a:latin typeface="Calibri"/>
              </a:defRPr>
            </a:pPr>
            <a:r>
              <a:t>Strong</a:t>
            </a:r>
          </a:p>
        </p:txBody>
      </p:sp>
      <p:sp>
        <p:nvSpPr>
          <p:cNvPr id="29" name="Rectangle 28"/>
          <p:cNvSpPr/>
          <p:nvPr/>
        </p:nvSpPr>
        <p:spPr>
          <a:xfrm>
            <a:off x="6766560" y="22402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22860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31" name="Rectangle 30"/>
          <p:cNvSpPr/>
          <p:nvPr/>
        </p:nvSpPr>
        <p:spPr>
          <a:xfrm>
            <a:off x="9144000" y="22402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22860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33" name="Rectangle 32"/>
          <p:cNvSpPr/>
          <p:nvPr/>
        </p:nvSpPr>
        <p:spPr>
          <a:xfrm>
            <a:off x="548640" y="26974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43200"/>
            <a:ext cx="2103120" cy="320040"/>
          </a:xfrm>
          <a:prstGeom prst="rect">
            <a:avLst/>
          </a:prstGeom>
          <a:noFill/>
        </p:spPr>
        <p:txBody>
          <a:bodyPr wrap="square"/>
          <a:lstStyle/>
          <a:p>
            <a:pPr algn="l">
              <a:defRPr sz="1200" b="0">
                <a:solidFill>
                  <a:srgbClr val="000000"/>
                </a:solidFill>
                <a:latin typeface="Calibri"/>
              </a:defRPr>
            </a:pPr>
            <a:r>
              <a:t>Persistent AI context</a:t>
            </a:r>
          </a:p>
        </p:txBody>
      </p:sp>
      <p:sp>
        <p:nvSpPr>
          <p:cNvPr id="35" name="Rectangle 34"/>
          <p:cNvSpPr/>
          <p:nvPr/>
        </p:nvSpPr>
        <p:spPr>
          <a:xfrm>
            <a:off x="2926080" y="2697480"/>
            <a:ext cx="201168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17520" y="27432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37" name="Rectangle 36"/>
          <p:cNvSpPr/>
          <p:nvPr/>
        </p:nvSpPr>
        <p:spPr>
          <a:xfrm>
            <a:off x="5029200" y="2697480"/>
            <a:ext cx="164592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27432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39" name="Rectangle 38"/>
          <p:cNvSpPr/>
          <p:nvPr/>
        </p:nvSpPr>
        <p:spPr>
          <a:xfrm>
            <a:off x="6766560" y="26974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2743200"/>
            <a:ext cx="2103120" cy="320040"/>
          </a:xfrm>
          <a:prstGeom prst="rect">
            <a:avLst/>
          </a:prstGeom>
          <a:noFill/>
        </p:spPr>
        <p:txBody>
          <a:bodyPr wrap="square"/>
          <a:lstStyle/>
          <a:p>
            <a:pPr algn="ctr">
              <a:defRPr sz="1200" b="0">
                <a:solidFill>
                  <a:srgbClr val="000000"/>
                </a:solidFill>
                <a:latin typeface="Calibri"/>
              </a:defRPr>
            </a:pPr>
            <a:r>
              <a:t>Strong (solo)</a:t>
            </a:r>
          </a:p>
        </p:txBody>
      </p:sp>
      <p:sp>
        <p:nvSpPr>
          <p:cNvPr id="41" name="Rectangle 40"/>
          <p:cNvSpPr/>
          <p:nvPr/>
        </p:nvSpPr>
        <p:spPr>
          <a:xfrm>
            <a:off x="9144000" y="26974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2743200"/>
            <a:ext cx="2103120" cy="320040"/>
          </a:xfrm>
          <a:prstGeom prst="rect">
            <a:avLst/>
          </a:prstGeom>
          <a:noFill/>
        </p:spPr>
        <p:txBody>
          <a:bodyPr wrap="square"/>
          <a:lstStyle/>
          <a:p>
            <a:pPr algn="ctr">
              <a:defRPr sz="1200" b="1">
                <a:solidFill>
                  <a:srgbClr val="0B3D2E"/>
                </a:solidFill>
                <a:latin typeface="Calibri"/>
              </a:defRPr>
            </a:pPr>
            <a:r>
              <a:t>Strong (team)</a:t>
            </a:r>
          </a:p>
        </p:txBody>
      </p:sp>
      <p:sp>
        <p:nvSpPr>
          <p:cNvPr id="43" name="Rectangle 42"/>
          <p:cNvSpPr/>
          <p:nvPr/>
        </p:nvSpPr>
        <p:spPr>
          <a:xfrm>
            <a:off x="548640" y="31546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200400"/>
            <a:ext cx="2103120" cy="320040"/>
          </a:xfrm>
          <a:prstGeom prst="rect">
            <a:avLst/>
          </a:prstGeom>
          <a:noFill/>
        </p:spPr>
        <p:txBody>
          <a:bodyPr wrap="square"/>
          <a:lstStyle/>
          <a:p>
            <a:pPr algn="l">
              <a:defRPr sz="1200" b="0">
                <a:solidFill>
                  <a:srgbClr val="000000"/>
                </a:solidFill>
                <a:latin typeface="Calibri"/>
              </a:defRPr>
            </a:pPr>
            <a:r>
              <a:t>Line-level diff</a:t>
            </a:r>
          </a:p>
        </p:txBody>
      </p:sp>
      <p:sp>
        <p:nvSpPr>
          <p:cNvPr id="45" name="Rectangle 44"/>
          <p:cNvSpPr/>
          <p:nvPr/>
        </p:nvSpPr>
        <p:spPr>
          <a:xfrm>
            <a:off x="2926080" y="3154680"/>
            <a:ext cx="201168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7520" y="32004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47" name="Rectangle 46"/>
          <p:cNvSpPr/>
          <p:nvPr/>
        </p:nvSpPr>
        <p:spPr>
          <a:xfrm>
            <a:off x="5029200" y="3154680"/>
            <a:ext cx="164592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20640" y="32004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49" name="Rectangle 48"/>
          <p:cNvSpPr/>
          <p:nvPr/>
        </p:nvSpPr>
        <p:spPr>
          <a:xfrm>
            <a:off x="6766560" y="31546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0" y="32004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51" name="Rectangle 50"/>
          <p:cNvSpPr/>
          <p:nvPr/>
        </p:nvSpPr>
        <p:spPr>
          <a:xfrm>
            <a:off x="9144000" y="31546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35440" y="32004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53" name="Rectangle 52"/>
          <p:cNvSpPr/>
          <p:nvPr/>
        </p:nvSpPr>
        <p:spPr>
          <a:xfrm>
            <a:off x="548640" y="36118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3657600"/>
            <a:ext cx="2103120" cy="320040"/>
          </a:xfrm>
          <a:prstGeom prst="rect">
            <a:avLst/>
          </a:prstGeom>
          <a:noFill/>
        </p:spPr>
        <p:txBody>
          <a:bodyPr wrap="square"/>
          <a:lstStyle/>
          <a:p>
            <a:pPr algn="l">
              <a:defRPr sz="1200" b="0">
                <a:solidFill>
                  <a:srgbClr val="000000"/>
                </a:solidFill>
                <a:latin typeface="Calibri"/>
              </a:defRPr>
            </a:pPr>
            <a:r>
              <a:t>Branching / exploration</a:t>
            </a:r>
          </a:p>
        </p:txBody>
      </p:sp>
      <p:sp>
        <p:nvSpPr>
          <p:cNvPr id="55" name="Rectangle 54"/>
          <p:cNvSpPr/>
          <p:nvPr/>
        </p:nvSpPr>
        <p:spPr>
          <a:xfrm>
            <a:off x="2926080" y="3611880"/>
            <a:ext cx="201168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017520" y="36576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57" name="Rectangle 56"/>
          <p:cNvSpPr/>
          <p:nvPr/>
        </p:nvSpPr>
        <p:spPr>
          <a:xfrm>
            <a:off x="5029200" y="3611880"/>
            <a:ext cx="164592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20640" y="36576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59" name="Rectangle 58"/>
          <p:cNvSpPr/>
          <p:nvPr/>
        </p:nvSpPr>
        <p:spPr>
          <a:xfrm>
            <a:off x="6766560" y="36118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0" y="36576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61" name="Rectangle 60"/>
          <p:cNvSpPr/>
          <p:nvPr/>
        </p:nvSpPr>
        <p:spPr>
          <a:xfrm>
            <a:off x="9144000" y="36118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35440" y="36576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63" name="Rectangle 62"/>
          <p:cNvSpPr/>
          <p:nvPr/>
        </p:nvSpPr>
        <p:spPr>
          <a:xfrm>
            <a:off x="548640" y="40690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4114800"/>
            <a:ext cx="2103120" cy="320040"/>
          </a:xfrm>
          <a:prstGeom prst="rect">
            <a:avLst/>
          </a:prstGeom>
          <a:noFill/>
        </p:spPr>
        <p:txBody>
          <a:bodyPr wrap="square"/>
          <a:lstStyle/>
          <a:p>
            <a:pPr algn="l">
              <a:defRPr sz="1200" b="0">
                <a:solidFill>
                  <a:srgbClr val="000000"/>
                </a:solidFill>
                <a:latin typeface="Calibri"/>
              </a:defRPr>
            </a:pPr>
            <a:r>
              <a:t>Commit with reasoning</a:t>
            </a:r>
          </a:p>
        </p:txBody>
      </p:sp>
      <p:sp>
        <p:nvSpPr>
          <p:cNvPr id="65" name="Rectangle 64"/>
          <p:cNvSpPr/>
          <p:nvPr/>
        </p:nvSpPr>
        <p:spPr>
          <a:xfrm>
            <a:off x="2926080" y="4069080"/>
            <a:ext cx="201168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017520" y="41148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67" name="Rectangle 66"/>
          <p:cNvSpPr/>
          <p:nvPr/>
        </p:nvSpPr>
        <p:spPr>
          <a:xfrm>
            <a:off x="5029200" y="4069080"/>
            <a:ext cx="164592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120640" y="41148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69" name="Rectangle 68"/>
          <p:cNvSpPr/>
          <p:nvPr/>
        </p:nvSpPr>
        <p:spPr>
          <a:xfrm>
            <a:off x="6766560" y="40690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41148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71" name="Rectangle 70"/>
          <p:cNvSpPr/>
          <p:nvPr/>
        </p:nvSpPr>
        <p:spPr>
          <a:xfrm>
            <a:off x="9144000" y="40690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235440" y="41148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73" name="Rectangle 72"/>
          <p:cNvSpPr/>
          <p:nvPr/>
        </p:nvSpPr>
        <p:spPr>
          <a:xfrm>
            <a:off x="548640" y="45262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0080" y="4572000"/>
            <a:ext cx="2103120" cy="320040"/>
          </a:xfrm>
          <a:prstGeom prst="rect">
            <a:avLst/>
          </a:prstGeom>
          <a:noFill/>
        </p:spPr>
        <p:txBody>
          <a:bodyPr wrap="square"/>
          <a:lstStyle/>
          <a:p>
            <a:pPr algn="l">
              <a:defRPr sz="1200" b="0">
                <a:solidFill>
                  <a:srgbClr val="000000"/>
                </a:solidFill>
                <a:latin typeface="Calibri"/>
              </a:defRPr>
            </a:pPr>
            <a:r>
              <a:t>Pull request review</a:t>
            </a:r>
          </a:p>
        </p:txBody>
      </p:sp>
      <p:sp>
        <p:nvSpPr>
          <p:cNvPr id="75" name="Rectangle 74"/>
          <p:cNvSpPr/>
          <p:nvPr/>
        </p:nvSpPr>
        <p:spPr>
          <a:xfrm>
            <a:off x="2926080" y="4526280"/>
            <a:ext cx="201168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017520" y="4572000"/>
            <a:ext cx="1828800" cy="320040"/>
          </a:xfrm>
          <a:prstGeom prst="rect">
            <a:avLst/>
          </a:prstGeom>
          <a:noFill/>
        </p:spPr>
        <p:txBody>
          <a:bodyPr wrap="square"/>
          <a:lstStyle/>
          <a:p>
            <a:pPr algn="ctr">
              <a:defRPr sz="1200" b="0">
                <a:solidFill>
                  <a:srgbClr val="999999"/>
                </a:solidFill>
                <a:latin typeface="Calibri"/>
              </a:defRPr>
            </a:pPr>
            <a:r>
              <a:t>No</a:t>
            </a:r>
          </a:p>
        </p:txBody>
      </p:sp>
      <p:sp>
        <p:nvSpPr>
          <p:cNvPr id="77" name="Rectangle 76"/>
          <p:cNvSpPr/>
          <p:nvPr/>
        </p:nvSpPr>
        <p:spPr>
          <a:xfrm>
            <a:off x="5029200" y="4526280"/>
            <a:ext cx="164592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120640" y="45720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79" name="Rectangle 78"/>
          <p:cNvSpPr/>
          <p:nvPr/>
        </p:nvSpPr>
        <p:spPr>
          <a:xfrm>
            <a:off x="6766560" y="45262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858000" y="45720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81" name="Rectangle 80"/>
          <p:cNvSpPr/>
          <p:nvPr/>
        </p:nvSpPr>
        <p:spPr>
          <a:xfrm>
            <a:off x="9144000" y="45262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35440" y="45720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83" name="Rectangle 82"/>
          <p:cNvSpPr/>
          <p:nvPr/>
        </p:nvSpPr>
        <p:spPr>
          <a:xfrm>
            <a:off x="548640" y="49834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40080" y="5029200"/>
            <a:ext cx="2103120" cy="320040"/>
          </a:xfrm>
          <a:prstGeom prst="rect">
            <a:avLst/>
          </a:prstGeom>
          <a:noFill/>
        </p:spPr>
        <p:txBody>
          <a:bodyPr wrap="square"/>
          <a:lstStyle/>
          <a:p>
            <a:pPr algn="l">
              <a:defRPr sz="1200" b="0">
                <a:solidFill>
                  <a:srgbClr val="000000"/>
                </a:solidFill>
                <a:latin typeface="Calibri"/>
              </a:defRPr>
            </a:pPr>
            <a:r>
              <a:t>Automated guardrails</a:t>
            </a:r>
          </a:p>
        </p:txBody>
      </p:sp>
      <p:sp>
        <p:nvSpPr>
          <p:cNvPr id="85" name="Rectangle 84"/>
          <p:cNvSpPr/>
          <p:nvPr/>
        </p:nvSpPr>
        <p:spPr>
          <a:xfrm>
            <a:off x="2926080" y="4983480"/>
            <a:ext cx="201168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017520" y="5029200"/>
            <a:ext cx="1828800" cy="320040"/>
          </a:xfrm>
          <a:prstGeom prst="rect">
            <a:avLst/>
          </a:prstGeom>
          <a:noFill/>
        </p:spPr>
        <p:txBody>
          <a:bodyPr wrap="square"/>
          <a:lstStyle/>
          <a:p>
            <a:pPr algn="ctr">
              <a:defRPr sz="1200" b="0">
                <a:solidFill>
                  <a:srgbClr val="000000"/>
                </a:solidFill>
                <a:latin typeface="Calibri"/>
              </a:defRPr>
            </a:pPr>
            <a:r>
              <a:t>Limited</a:t>
            </a:r>
          </a:p>
        </p:txBody>
      </p:sp>
      <p:sp>
        <p:nvSpPr>
          <p:cNvPr id="87" name="Rectangle 86"/>
          <p:cNvSpPr/>
          <p:nvPr/>
        </p:nvSpPr>
        <p:spPr>
          <a:xfrm>
            <a:off x="5029200" y="4983480"/>
            <a:ext cx="164592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20640" y="50292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89" name="Rectangle 88"/>
          <p:cNvSpPr/>
          <p:nvPr/>
        </p:nvSpPr>
        <p:spPr>
          <a:xfrm>
            <a:off x="6766560" y="49834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858000" y="50292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91" name="Rectangle 90"/>
          <p:cNvSpPr/>
          <p:nvPr/>
        </p:nvSpPr>
        <p:spPr>
          <a:xfrm>
            <a:off x="9144000" y="49834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235440" y="50292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93" name="Rectangle 92"/>
          <p:cNvSpPr/>
          <p:nvPr/>
        </p:nvSpPr>
        <p:spPr>
          <a:xfrm>
            <a:off x="548640" y="54406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40080" y="5486400"/>
            <a:ext cx="2103120" cy="320040"/>
          </a:xfrm>
          <a:prstGeom prst="rect">
            <a:avLst/>
          </a:prstGeom>
          <a:noFill/>
        </p:spPr>
        <p:txBody>
          <a:bodyPr wrap="square"/>
          <a:lstStyle/>
          <a:p>
            <a:pPr algn="l">
              <a:defRPr sz="1200" b="0">
                <a:solidFill>
                  <a:srgbClr val="000000"/>
                </a:solidFill>
                <a:latin typeface="Calibri"/>
              </a:defRPr>
            </a:pPr>
            <a:r>
              <a:t>Fork and reuse</a:t>
            </a:r>
          </a:p>
        </p:txBody>
      </p:sp>
      <p:sp>
        <p:nvSpPr>
          <p:cNvPr id="95" name="Rectangle 94"/>
          <p:cNvSpPr/>
          <p:nvPr/>
        </p:nvSpPr>
        <p:spPr>
          <a:xfrm>
            <a:off x="2926080" y="5440680"/>
            <a:ext cx="201168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17520" y="5486400"/>
            <a:ext cx="1828800" cy="320040"/>
          </a:xfrm>
          <a:prstGeom prst="rect">
            <a:avLst/>
          </a:prstGeom>
          <a:noFill/>
        </p:spPr>
        <p:txBody>
          <a:bodyPr wrap="square"/>
          <a:lstStyle/>
          <a:p>
            <a:pPr algn="ctr">
              <a:defRPr sz="1200" b="0">
                <a:solidFill>
                  <a:srgbClr val="000000"/>
                </a:solidFill>
                <a:latin typeface="Calibri"/>
              </a:defRPr>
            </a:pPr>
            <a:r>
              <a:t>Copy/paste</a:t>
            </a:r>
          </a:p>
        </p:txBody>
      </p:sp>
      <p:sp>
        <p:nvSpPr>
          <p:cNvPr id="97" name="Rectangle 96"/>
          <p:cNvSpPr/>
          <p:nvPr/>
        </p:nvSpPr>
        <p:spPr>
          <a:xfrm>
            <a:off x="5029200" y="5440680"/>
            <a:ext cx="164592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120640" y="54864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99" name="Rectangle 98"/>
          <p:cNvSpPr/>
          <p:nvPr/>
        </p:nvSpPr>
        <p:spPr>
          <a:xfrm>
            <a:off x="6766560" y="54406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858000" y="54864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101" name="Rectangle 100"/>
          <p:cNvSpPr/>
          <p:nvPr/>
        </p:nvSpPr>
        <p:spPr>
          <a:xfrm>
            <a:off x="9144000" y="5440680"/>
            <a:ext cx="2286000" cy="411480"/>
          </a:xfrm>
          <a:prstGeom prst="rect">
            <a:avLst/>
          </a:prstGeom>
          <a:solidFill>
            <a:srgbClr val="EEE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235440" y="5486400"/>
            <a:ext cx="2103120" cy="320040"/>
          </a:xfrm>
          <a:prstGeom prst="rect">
            <a:avLst/>
          </a:prstGeom>
          <a:noFill/>
        </p:spPr>
        <p:txBody>
          <a:bodyPr wrap="square"/>
          <a:lstStyle/>
          <a:p>
            <a:pPr algn="ctr">
              <a:defRPr sz="1200" b="1">
                <a:solidFill>
                  <a:srgbClr val="0B3D2E"/>
                </a:solidFill>
                <a:latin typeface="Calibri"/>
              </a:defRPr>
            </a:pPr>
            <a:r>
              <a:t>Yes</a:t>
            </a:r>
          </a:p>
        </p:txBody>
      </p:sp>
      <p:sp>
        <p:nvSpPr>
          <p:cNvPr id="103" name="Rectangle 102"/>
          <p:cNvSpPr/>
          <p:nvPr/>
        </p:nvSpPr>
        <p:spPr>
          <a:xfrm>
            <a:off x="548640" y="58978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40080" y="5943600"/>
            <a:ext cx="2103120" cy="320040"/>
          </a:xfrm>
          <a:prstGeom prst="rect">
            <a:avLst/>
          </a:prstGeom>
          <a:noFill/>
        </p:spPr>
        <p:txBody>
          <a:bodyPr wrap="square"/>
          <a:lstStyle/>
          <a:p>
            <a:pPr algn="l">
              <a:defRPr sz="1200" b="0">
                <a:solidFill>
                  <a:srgbClr val="000000"/>
                </a:solidFill>
                <a:latin typeface="Calibri"/>
              </a:defRPr>
            </a:pPr>
            <a:r>
              <a:t>Decision traceability</a:t>
            </a:r>
          </a:p>
        </p:txBody>
      </p:sp>
      <p:sp>
        <p:nvSpPr>
          <p:cNvPr id="105" name="Rectangle 104"/>
          <p:cNvSpPr/>
          <p:nvPr/>
        </p:nvSpPr>
        <p:spPr>
          <a:xfrm>
            <a:off x="2926080" y="5897880"/>
            <a:ext cx="201168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3017520" y="5943600"/>
            <a:ext cx="1828800" cy="320040"/>
          </a:xfrm>
          <a:prstGeom prst="rect">
            <a:avLst/>
          </a:prstGeom>
          <a:noFill/>
        </p:spPr>
        <p:txBody>
          <a:bodyPr wrap="square"/>
          <a:lstStyle/>
          <a:p>
            <a:pPr algn="ctr">
              <a:defRPr sz="1200" b="0">
                <a:solidFill>
                  <a:srgbClr val="000000"/>
                </a:solidFill>
                <a:latin typeface="Calibri"/>
              </a:defRPr>
            </a:pPr>
            <a:r>
              <a:t>Weak</a:t>
            </a:r>
          </a:p>
        </p:txBody>
      </p:sp>
      <p:sp>
        <p:nvSpPr>
          <p:cNvPr id="107" name="Rectangle 106"/>
          <p:cNvSpPr/>
          <p:nvPr/>
        </p:nvSpPr>
        <p:spPr>
          <a:xfrm>
            <a:off x="5029200" y="5897880"/>
            <a:ext cx="164592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120640" y="5943600"/>
            <a:ext cx="1463040" cy="320040"/>
          </a:xfrm>
          <a:prstGeom prst="rect">
            <a:avLst/>
          </a:prstGeom>
          <a:noFill/>
        </p:spPr>
        <p:txBody>
          <a:bodyPr wrap="square"/>
          <a:lstStyle/>
          <a:p>
            <a:pPr algn="ctr">
              <a:defRPr sz="1200" b="0">
                <a:solidFill>
                  <a:srgbClr val="999999"/>
                </a:solidFill>
                <a:latin typeface="Calibri"/>
              </a:defRPr>
            </a:pPr>
            <a:r>
              <a:t>No</a:t>
            </a:r>
          </a:p>
        </p:txBody>
      </p:sp>
      <p:sp>
        <p:nvSpPr>
          <p:cNvPr id="109" name="Rectangle 108"/>
          <p:cNvSpPr/>
          <p:nvPr/>
        </p:nvSpPr>
        <p:spPr>
          <a:xfrm>
            <a:off x="6766560" y="58978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858000" y="5943600"/>
            <a:ext cx="2103120" cy="320040"/>
          </a:xfrm>
          <a:prstGeom prst="rect">
            <a:avLst/>
          </a:prstGeom>
          <a:noFill/>
        </p:spPr>
        <p:txBody>
          <a:bodyPr wrap="square"/>
          <a:lstStyle/>
          <a:p>
            <a:pPr algn="ctr">
              <a:defRPr sz="1200" b="0">
                <a:solidFill>
                  <a:srgbClr val="999999"/>
                </a:solidFill>
                <a:latin typeface="Calibri"/>
              </a:defRPr>
            </a:pPr>
            <a:r>
              <a:t>No</a:t>
            </a:r>
          </a:p>
        </p:txBody>
      </p:sp>
      <p:sp>
        <p:nvSpPr>
          <p:cNvPr id="111" name="Rectangle 110"/>
          <p:cNvSpPr/>
          <p:nvPr/>
        </p:nvSpPr>
        <p:spPr>
          <a:xfrm>
            <a:off x="9144000" y="5897880"/>
            <a:ext cx="2286000" cy="411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235440" y="5943600"/>
            <a:ext cx="2103120" cy="320040"/>
          </a:xfrm>
          <a:prstGeom prst="rect">
            <a:avLst/>
          </a:prstGeom>
          <a:noFill/>
        </p:spPr>
        <p:txBody>
          <a:bodyPr wrap="square"/>
          <a:lstStyle/>
          <a:p>
            <a:pPr algn="ctr">
              <a:defRPr sz="1200" b="1">
                <a:solidFill>
                  <a:srgbClr val="0B3D2E"/>
                </a:solidFill>
                <a:latin typeface="Calibri"/>
              </a:defRPr>
            </a:pPr>
            <a:r>
              <a:t>Strong</a:t>
            </a:r>
          </a:p>
        </p:txBody>
      </p:sp>
      <p:sp>
        <p:nvSpPr>
          <p:cNvPr id="113" name="TextBox 112"/>
          <p:cNvSpPr txBox="1"/>
          <p:nvPr/>
        </p:nvSpPr>
        <p:spPr>
          <a:xfrm>
            <a:off x="731520" y="6217920"/>
            <a:ext cx="10058400" cy="365760"/>
          </a:xfrm>
          <a:prstGeom prst="rect">
            <a:avLst/>
          </a:prstGeom>
          <a:noFill/>
        </p:spPr>
        <p:txBody>
          <a:bodyPr wrap="square"/>
          <a:lstStyle/>
          <a:p>
            <a:pPr algn="ctr">
              <a:defRPr sz="1400" b="1">
                <a:solidFill>
                  <a:srgbClr val="0B3D2E"/>
                </a:solidFill>
                <a:latin typeface="Calibri"/>
              </a:defRPr>
            </a:pPr>
            <a:r>
              <a:t>The point is not "migrate everything." SharePoint stores the finished strategy. GitHub is where the strategy is still being argued.</a:t>
            </a:r>
          </a:p>
        </p:txBody>
      </p:sp>
      <p:sp>
        <p:nvSpPr>
          <p:cNvPr id="114" name="TextBox 113"/>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274320"/>
            <a:ext cx="10515600" cy="731520"/>
          </a:xfrm>
          <a:prstGeom prst="rect">
            <a:avLst/>
          </a:prstGeom>
          <a:noFill/>
        </p:spPr>
        <p:txBody>
          <a:bodyPr wrap="square"/>
          <a:lstStyle/>
          <a:p>
            <a:pPr algn="l">
              <a:defRPr sz="3600" b="1">
                <a:solidFill>
                  <a:srgbClr val="FFFFFF"/>
                </a:solidFill>
                <a:latin typeface="Calibri"/>
              </a:defRPr>
            </a:pPr>
            <a:r>
              <a:t>The Mindset Shift: Reconstructing Product Judgment.</a:t>
            </a:r>
          </a:p>
        </p:txBody>
      </p:sp>
      <p:sp>
        <p:nvSpPr>
          <p:cNvPr id="3" name="TextBox 2"/>
          <p:cNvSpPr txBox="1"/>
          <p:nvPr/>
        </p:nvSpPr>
        <p:spPr>
          <a:xfrm>
            <a:off x="731520" y="1097280"/>
            <a:ext cx="10515600" cy="731520"/>
          </a:xfrm>
          <a:prstGeom prst="rect">
            <a:avLst/>
          </a:prstGeom>
          <a:noFill/>
        </p:spPr>
        <p:txBody>
          <a:bodyPr wrap="square"/>
          <a:lstStyle/>
          <a:p>
            <a:pPr algn="l">
              <a:defRPr sz="1800" b="0">
                <a:solidFill>
                  <a:srgbClr val="F5E6CC"/>
                </a:solidFill>
                <a:latin typeface="Calibri"/>
              </a:defRPr>
            </a:pPr>
            <a:r>
              <a:t>A useful commit creates a checkpoint around a meaningful change. The reasoning travels with the change, creating a trail of product logic.</a:t>
            </a:r>
          </a:p>
        </p:txBody>
      </p:sp>
      <p:sp>
        <p:nvSpPr>
          <p:cNvPr id="4" name="Rounded Rectangle 3"/>
          <p:cNvSpPr/>
          <p:nvPr/>
        </p:nvSpPr>
        <p:spPr>
          <a:xfrm>
            <a:off x="731520" y="228600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560320"/>
            <a:ext cx="1645920" cy="1097280"/>
          </a:xfrm>
          <a:prstGeom prst="rect">
            <a:avLst/>
          </a:prstGeom>
          <a:noFill/>
        </p:spPr>
        <p:txBody>
          <a:bodyPr wrap="square"/>
          <a:lstStyle/>
          <a:p>
            <a:pPr algn="ctr">
              <a:defRPr sz="2400" b="1">
                <a:solidFill>
                  <a:srgbClr val="000000"/>
                </a:solidFill>
                <a:latin typeface="Calibri"/>
              </a:defRPr>
            </a:pPr>
            <a:r>
              <a:t>What we</a:t>
            </a:r>
            <a:br/>
            <a:r>
              <a:t>knew</a:t>
            </a:r>
          </a:p>
        </p:txBody>
      </p:sp>
      <p:sp>
        <p:nvSpPr>
          <p:cNvPr id="6" name="TextBox 5"/>
          <p:cNvSpPr txBox="1"/>
          <p:nvPr/>
        </p:nvSpPr>
        <p:spPr>
          <a:xfrm>
            <a:off x="868680" y="3749040"/>
            <a:ext cx="1645920" cy="1097280"/>
          </a:xfrm>
          <a:prstGeom prst="rect">
            <a:avLst/>
          </a:prstGeom>
          <a:noFill/>
        </p:spPr>
        <p:txBody>
          <a:bodyPr wrap="square"/>
          <a:lstStyle/>
          <a:p>
            <a:pPr algn="ctr">
              <a:defRPr sz="1300" b="0">
                <a:solidFill>
                  <a:srgbClr val="999999"/>
                </a:solidFill>
                <a:latin typeface="Calibri"/>
              </a:defRPr>
            </a:pPr>
            <a:r>
              <a:t>(The baseline</a:t>
            </a:r>
            <a:br/>
            <a:r>
              <a:t>branch)</a:t>
            </a:r>
          </a:p>
        </p:txBody>
      </p:sp>
      <p:sp>
        <p:nvSpPr>
          <p:cNvPr id="7" name="Right Arrow 6"/>
          <p:cNvSpPr/>
          <p:nvPr/>
        </p:nvSpPr>
        <p:spPr>
          <a:xfrm>
            <a:off x="2697480" y="3200400"/>
            <a:ext cx="320040" cy="731520"/>
          </a:xfrm>
          <a:prstGeom prst="rightArrow">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91840" y="228600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2560320"/>
            <a:ext cx="1645920" cy="1097280"/>
          </a:xfrm>
          <a:prstGeom prst="rect">
            <a:avLst/>
          </a:prstGeom>
          <a:noFill/>
        </p:spPr>
        <p:txBody>
          <a:bodyPr wrap="square"/>
          <a:lstStyle/>
          <a:p>
            <a:pPr algn="ctr">
              <a:defRPr sz="2400" b="1">
                <a:solidFill>
                  <a:srgbClr val="000000"/>
                </a:solidFill>
                <a:latin typeface="Calibri"/>
              </a:defRPr>
            </a:pPr>
            <a:r>
              <a:t>What</a:t>
            </a:r>
            <a:br/>
            <a:r>
              <a:t>changed</a:t>
            </a:r>
          </a:p>
        </p:txBody>
      </p:sp>
      <p:sp>
        <p:nvSpPr>
          <p:cNvPr id="10" name="TextBox 9"/>
          <p:cNvSpPr txBox="1"/>
          <p:nvPr/>
        </p:nvSpPr>
        <p:spPr>
          <a:xfrm>
            <a:off x="3429000" y="3749040"/>
            <a:ext cx="1645920" cy="1097280"/>
          </a:xfrm>
          <a:prstGeom prst="rect">
            <a:avLst/>
          </a:prstGeom>
          <a:noFill/>
        </p:spPr>
        <p:txBody>
          <a:bodyPr wrap="square"/>
          <a:lstStyle/>
          <a:p>
            <a:pPr algn="ctr">
              <a:defRPr sz="1300" b="0">
                <a:solidFill>
                  <a:srgbClr val="999999"/>
                </a:solidFill>
                <a:latin typeface="Calibri"/>
              </a:defRPr>
            </a:pPr>
            <a:r>
              <a:t>(New evidence /</a:t>
            </a:r>
            <a:br/>
            <a:r>
              <a:t>Customer interviews)</a:t>
            </a:r>
          </a:p>
        </p:txBody>
      </p:sp>
      <p:sp>
        <p:nvSpPr>
          <p:cNvPr id="11" name="Right Arrow 10"/>
          <p:cNvSpPr/>
          <p:nvPr/>
        </p:nvSpPr>
        <p:spPr>
          <a:xfrm>
            <a:off x="5257800" y="3200400"/>
            <a:ext cx="320040" cy="731520"/>
          </a:xfrm>
          <a:prstGeom prst="rightArrow">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52160" y="228600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2560320"/>
            <a:ext cx="1645920" cy="1097280"/>
          </a:xfrm>
          <a:prstGeom prst="rect">
            <a:avLst/>
          </a:prstGeom>
          <a:noFill/>
        </p:spPr>
        <p:txBody>
          <a:bodyPr wrap="square"/>
          <a:lstStyle/>
          <a:p>
            <a:pPr algn="ctr">
              <a:defRPr sz="2400" b="1">
                <a:solidFill>
                  <a:srgbClr val="000000"/>
                </a:solidFill>
                <a:latin typeface="Calibri"/>
              </a:defRPr>
            </a:pPr>
            <a:r>
              <a:t>What we</a:t>
            </a:r>
            <a:br/>
            <a:r>
              <a:t>considered</a:t>
            </a:r>
          </a:p>
        </p:txBody>
      </p:sp>
      <p:sp>
        <p:nvSpPr>
          <p:cNvPr id="14" name="TextBox 13"/>
          <p:cNvSpPr txBox="1"/>
          <p:nvPr/>
        </p:nvSpPr>
        <p:spPr>
          <a:xfrm>
            <a:off x="5989320" y="3749040"/>
            <a:ext cx="1645920" cy="1097280"/>
          </a:xfrm>
          <a:prstGeom prst="rect">
            <a:avLst/>
          </a:prstGeom>
          <a:noFill/>
        </p:spPr>
        <p:txBody>
          <a:bodyPr wrap="square"/>
          <a:lstStyle/>
          <a:p>
            <a:pPr algn="ctr">
              <a:defRPr sz="1300" b="0">
                <a:solidFill>
                  <a:srgbClr val="999999"/>
                </a:solidFill>
                <a:latin typeface="Calibri"/>
              </a:defRPr>
            </a:pPr>
            <a:r>
              <a:t>(Parallel branches</a:t>
            </a:r>
            <a:br/>
            <a:r>
              <a:t>exploring alternatives)</a:t>
            </a:r>
          </a:p>
        </p:txBody>
      </p:sp>
      <p:sp>
        <p:nvSpPr>
          <p:cNvPr id="15" name="Right Arrow 14"/>
          <p:cNvSpPr/>
          <p:nvPr/>
        </p:nvSpPr>
        <p:spPr>
          <a:xfrm>
            <a:off x="7818120" y="3200400"/>
            <a:ext cx="320040" cy="731520"/>
          </a:xfrm>
          <a:prstGeom prst="rightArrow">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12480" y="228600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560320"/>
            <a:ext cx="1645920" cy="1097280"/>
          </a:xfrm>
          <a:prstGeom prst="rect">
            <a:avLst/>
          </a:prstGeom>
          <a:noFill/>
        </p:spPr>
        <p:txBody>
          <a:bodyPr wrap="square"/>
          <a:lstStyle/>
          <a:p>
            <a:pPr algn="ctr">
              <a:defRPr sz="2400" b="1">
                <a:solidFill>
                  <a:srgbClr val="000000"/>
                </a:solidFill>
                <a:latin typeface="Calibri"/>
              </a:defRPr>
            </a:pPr>
            <a:r>
              <a:t>What we</a:t>
            </a:r>
            <a:br/>
            <a:r>
              <a:t>decided</a:t>
            </a:r>
          </a:p>
        </p:txBody>
      </p:sp>
      <p:sp>
        <p:nvSpPr>
          <p:cNvPr id="18" name="TextBox 17"/>
          <p:cNvSpPr txBox="1"/>
          <p:nvPr/>
        </p:nvSpPr>
        <p:spPr>
          <a:xfrm>
            <a:off x="8549640" y="3749040"/>
            <a:ext cx="1645920" cy="1097280"/>
          </a:xfrm>
          <a:prstGeom prst="rect">
            <a:avLst/>
          </a:prstGeom>
          <a:noFill/>
        </p:spPr>
        <p:txBody>
          <a:bodyPr wrap="square"/>
          <a:lstStyle/>
          <a:p>
            <a:pPr algn="ctr">
              <a:defRPr sz="1300" b="0">
                <a:solidFill>
                  <a:srgbClr val="999999"/>
                </a:solidFill>
                <a:latin typeface="Calibri"/>
              </a:defRPr>
            </a:pPr>
            <a:r>
              <a:t>(The Pull Request</a:t>
            </a:r>
            <a:br/>
            <a:r>
              <a:t>review)</a:t>
            </a:r>
          </a:p>
        </p:txBody>
      </p:sp>
      <p:sp>
        <p:nvSpPr>
          <p:cNvPr id="19" name="Right Arrow 18"/>
          <p:cNvSpPr/>
          <p:nvPr/>
        </p:nvSpPr>
        <p:spPr>
          <a:xfrm>
            <a:off x="10378440" y="3200400"/>
            <a:ext cx="320040" cy="731520"/>
          </a:xfrm>
          <a:prstGeom prst="rightArrow">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0" y="2286000"/>
            <a:ext cx="1920240" cy="2743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09960" y="2560320"/>
            <a:ext cx="1645920" cy="1097280"/>
          </a:xfrm>
          <a:prstGeom prst="rect">
            <a:avLst/>
          </a:prstGeom>
          <a:noFill/>
        </p:spPr>
        <p:txBody>
          <a:bodyPr wrap="square"/>
          <a:lstStyle/>
          <a:p>
            <a:pPr algn="ctr">
              <a:defRPr sz="2400" b="1">
                <a:solidFill>
                  <a:srgbClr val="000000"/>
                </a:solidFill>
                <a:latin typeface="Calibri"/>
              </a:defRPr>
            </a:pPr>
            <a:r>
              <a:t>Why</a:t>
            </a:r>
          </a:p>
        </p:txBody>
      </p:sp>
      <p:sp>
        <p:nvSpPr>
          <p:cNvPr id="22" name="TextBox 21"/>
          <p:cNvSpPr txBox="1"/>
          <p:nvPr/>
        </p:nvSpPr>
        <p:spPr>
          <a:xfrm>
            <a:off x="11109960" y="3749040"/>
            <a:ext cx="1645920" cy="1097280"/>
          </a:xfrm>
          <a:prstGeom prst="rect">
            <a:avLst/>
          </a:prstGeom>
          <a:noFill/>
        </p:spPr>
        <p:txBody>
          <a:bodyPr wrap="square"/>
          <a:lstStyle/>
          <a:p>
            <a:pPr algn="ctr">
              <a:defRPr sz="1300" b="0">
                <a:solidFill>
                  <a:srgbClr val="999999"/>
                </a:solidFill>
                <a:latin typeface="Calibri"/>
              </a:defRPr>
            </a:pPr>
            <a:r>
              <a:t>(The Commit message</a:t>
            </a:r>
            <a:br/>
            <a:r>
              <a:t>preserving the rationale)</a:t>
            </a:r>
          </a:p>
        </p:txBody>
      </p:sp>
      <p:sp>
        <p:nvSpPr>
          <p:cNvPr id="23" name="TextBox 22"/>
          <p:cNvSpPr txBox="1"/>
          <p:nvPr/>
        </p:nvSpPr>
        <p:spPr>
          <a:xfrm>
            <a:off x="1371600" y="5486400"/>
            <a:ext cx="9144000" cy="548640"/>
          </a:xfrm>
          <a:prstGeom prst="rect">
            <a:avLst/>
          </a:prstGeom>
          <a:noFill/>
        </p:spPr>
        <p:txBody>
          <a:bodyPr wrap="square"/>
          <a:lstStyle/>
          <a:p>
            <a:pPr algn="ctr">
              <a:defRPr sz="2000" b="1">
                <a:solidFill>
                  <a:srgbClr val="4ADE80"/>
                </a:solidFill>
                <a:latin typeface="Calibri"/>
              </a:defRPr>
            </a:pPr>
            <a:r>
              <a:t>Commits create a history of product judgment, not just a timestamp of an edit.</a:t>
            </a:r>
          </a:p>
        </p:txBody>
      </p:sp>
      <p:sp>
        <p:nvSpPr>
          <p:cNvPr id="24" name="TextBox 23"/>
          <p:cNvSpPr txBox="1"/>
          <p:nvPr/>
        </p:nvSpPr>
        <p:spPr>
          <a:xfrm>
            <a:off x="457200" y="6400800"/>
            <a:ext cx="10972800" cy="365760"/>
          </a:xfrm>
          <a:prstGeom prst="rect">
            <a:avLst/>
          </a:prstGeom>
          <a:noFill/>
        </p:spPr>
        <p:txBody>
          <a:bodyPr wrap="square"/>
          <a:lstStyle/>
          <a:p>
            <a:pPr algn="ctr">
              <a:defRPr sz="1000" b="0">
                <a:solidFill>
                  <a:srgbClr val="999999"/>
                </a:solidFill>
                <a:latin typeface="Calibri"/>
              </a:defRPr>
            </a:pPr>
            <a:r>
              <a:t>Beyond the Backlog  ·  Productside  ·  September 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914400" y="274320"/>
            <a:ext cx="10058400" cy="1097280"/>
          </a:xfrm>
          <a:prstGeom prst="rect">
            <a:avLst/>
          </a:prstGeom>
          <a:noFill/>
        </p:spPr>
        <p:txBody>
          <a:bodyPr wrap="square"/>
          <a:lstStyle/>
          <a:p>
            <a:pPr algn="ctr">
              <a:defRPr sz="4000" b="1">
                <a:solidFill>
                  <a:srgbClr val="4ADE80"/>
                </a:solidFill>
                <a:latin typeface="Calibri"/>
              </a:defRPr>
            </a:pPr>
            <a:r>
              <a:t>You are not learning Git so you</a:t>
            </a:r>
            <a:br/>
            <a:r>
              <a:t>can become a programmer.</a:t>
            </a:r>
          </a:p>
        </p:txBody>
      </p:sp>
      <p:sp>
        <p:nvSpPr>
          <p:cNvPr id="3" name="TextBox 2"/>
          <p:cNvSpPr txBox="1"/>
          <p:nvPr/>
        </p:nvSpPr>
        <p:spPr>
          <a:xfrm>
            <a:off x="914400" y="1463040"/>
            <a:ext cx="10058400" cy="731520"/>
          </a:xfrm>
          <a:prstGeom prst="rect">
            <a:avLst/>
          </a:prstGeom>
          <a:noFill/>
        </p:spPr>
        <p:txBody>
          <a:bodyPr wrap="square"/>
          <a:lstStyle/>
          <a:p>
            <a:pPr algn="ctr">
              <a:defRPr sz="2200" b="0">
                <a:solidFill>
                  <a:srgbClr val="FFFFFF"/>
                </a:solidFill>
                <a:latin typeface="Calibri"/>
              </a:defRPr>
            </a:pPr>
            <a:r>
              <a:t>You are learning just enough of the model to tell your AI harness what outcome you want.</a:t>
            </a:r>
          </a:p>
        </p:txBody>
      </p:sp>
      <p:sp>
        <p:nvSpPr>
          <p:cNvPr id="4" name="TextBox 3"/>
          <p:cNvSpPr txBox="1"/>
          <p:nvPr/>
        </p:nvSpPr>
        <p:spPr>
          <a:xfrm>
            <a:off x="914400" y="2194560"/>
            <a:ext cx="10058400" cy="548640"/>
          </a:xfrm>
          <a:prstGeom prst="rect">
            <a:avLst/>
          </a:prstGeom>
          <a:noFill/>
        </p:spPr>
        <p:txBody>
          <a:bodyPr wrap="square"/>
          <a:lstStyle/>
          <a:p>
            <a:pPr algn="ctr">
              <a:defRPr sz="1800" b="0">
                <a:solidFill>
                  <a:srgbClr val="F5E6CC"/>
                </a:solidFill>
                <a:latin typeface="Calibri"/>
              </a:defRPr>
            </a:pPr>
            <a:r>
              <a:t>Let the AI handle the mechanics while you provide the product judgment.</a:t>
            </a:r>
          </a:p>
        </p:txBody>
      </p:sp>
      <p:sp>
        <p:nvSpPr>
          <p:cNvPr id="5" name="TextBox 4"/>
          <p:cNvSpPr txBox="1"/>
          <p:nvPr/>
        </p:nvSpPr>
        <p:spPr>
          <a:xfrm>
            <a:off x="1371600" y="3017520"/>
            <a:ext cx="9144000" cy="457200"/>
          </a:xfrm>
          <a:prstGeom prst="rect">
            <a:avLst/>
          </a:prstGeom>
          <a:noFill/>
        </p:spPr>
        <p:txBody>
          <a:bodyPr wrap="square"/>
          <a:lstStyle/>
          <a:p>
            <a:pPr algn="l">
              <a:defRPr sz="2000" b="1">
                <a:solidFill>
                  <a:srgbClr val="FFFFFF"/>
                </a:solidFill>
                <a:latin typeface="Calibri"/>
              </a:defRPr>
            </a:pPr>
            <a:r>
              <a:t>What Kenny built today, from nothing:</a:t>
            </a:r>
          </a:p>
        </p:txBody>
      </p:sp>
      <p:sp>
        <p:nvSpPr>
          <p:cNvPr id="6" name="TextBox 5"/>
          <p:cNvSpPr txBox="1"/>
          <p:nvPr/>
        </p:nvSpPr>
        <p:spPr>
          <a:xfrm>
            <a:off x="1371600" y="3566160"/>
            <a:ext cx="9144000" cy="2377440"/>
          </a:xfrm>
          <a:prstGeom prst="rect">
            <a:avLst/>
          </a:prstGeom>
          <a:noFill/>
        </p:spPr>
        <p:txBody>
          <a:bodyPr wrap="square"/>
          <a:lstStyle/>
          <a:p>
            <a:pPr algn="l">
              <a:defRPr sz="1800" b="0">
                <a:solidFill>
                  <a:srgbClr val="FFFFFF"/>
                </a:solidFill>
                <a:latin typeface="Calibri"/>
              </a:defRPr>
            </a:pPr>
          </a:p>
          <a:p>
            <a:pPr algn="l">
              <a:spcBef>
                <a:spcPts val="300"/>
              </a:spcBef>
              <a:defRPr sz="1400" b="0">
                <a:solidFill>
                  <a:srgbClr val="FFFFFF"/>
                </a:solidFill>
                <a:latin typeface="Calibri"/>
              </a:defRPr>
            </a:pPr>
            <a:r>
              <a:t>•  Cloned a published skills library with one prompt</a:t>
            </a:r>
          </a:p>
          <a:p>
            <a:pPr algn="l">
              <a:spcBef>
                <a:spcPts val="300"/>
              </a:spcBef>
              <a:defRPr sz="1400" b="0">
                <a:solidFill>
                  <a:srgbClr val="FFFFFF"/>
                </a:solidFill>
                <a:latin typeface="Calibri"/>
              </a:defRPr>
            </a:pPr>
            <a:r>
              <a:t>•  Installed 22 market intelligence skills into his AI harness</a:t>
            </a:r>
          </a:p>
          <a:p>
            <a:pPr algn="l">
              <a:spcBef>
                <a:spcPts val="300"/>
              </a:spcBef>
              <a:defRPr sz="1400" b="0">
                <a:solidFill>
                  <a:srgbClr val="FFFFFF"/>
                </a:solidFill>
                <a:latin typeface="Calibri"/>
              </a:defRPr>
            </a:pPr>
            <a:r>
              <a:t>•  Ran the Battle Card Builder against a real competitor</a:t>
            </a:r>
          </a:p>
          <a:p>
            <a:pPr algn="l">
              <a:spcBef>
                <a:spcPts val="300"/>
              </a:spcBef>
              <a:defRPr sz="1400" b="0">
                <a:solidFill>
                  <a:srgbClr val="FFFFFF"/>
                </a:solidFill>
                <a:latin typeface="Calibri"/>
              </a:defRPr>
            </a:pPr>
            <a:r>
              <a:t>•  Spotted improvements based on his field experience as an SME</a:t>
            </a:r>
          </a:p>
          <a:p>
            <a:pPr algn="l">
              <a:spcBef>
                <a:spcPts val="300"/>
              </a:spcBef>
              <a:defRPr sz="1400" b="0">
                <a:solidFill>
                  <a:srgbClr val="FFFFFF"/>
                </a:solidFill>
                <a:latin typeface="Calibri"/>
              </a:defRPr>
            </a:pPr>
            <a:r>
              <a:t>•  Branched, improved the skill, committed with the reasoning</a:t>
            </a:r>
          </a:p>
          <a:p>
            <a:pPr algn="l">
              <a:spcBef>
                <a:spcPts val="300"/>
              </a:spcBef>
              <a:defRPr sz="1400" b="0">
                <a:solidFill>
                  <a:srgbClr val="FFFFFF"/>
                </a:solidFill>
                <a:latin typeface="Calibri"/>
              </a:defRPr>
            </a:pPr>
            <a:r>
              <a:t>•  Opened a pull request to the public Productside library</a:t>
            </a:r>
          </a:p>
          <a:p>
            <a:pPr algn="l">
              <a:spcBef>
                <a:spcPts val="300"/>
              </a:spcBef>
              <a:defRPr sz="1400" b="0">
                <a:solidFill>
                  <a:srgbClr val="FFFFFF"/>
                </a:solidFill>
                <a:latin typeface="Calibri"/>
              </a:defRPr>
            </a:pPr>
            <a:r>
              <a:t>•  Dean reviewed, the content guard passed, and Dean merged</a:t>
            </a:r>
          </a:p>
          <a:p>
            <a:pPr algn="l">
              <a:spcBef>
                <a:spcPts val="300"/>
              </a:spcBef>
              <a:defRPr sz="1400" b="0">
                <a:solidFill>
                  <a:srgbClr val="FFFFFF"/>
                </a:solidFill>
                <a:latin typeface="Calibri"/>
              </a:defRPr>
            </a:pPr>
            <a:r>
              <a:t>•  Kenny's name is on a merged commit in a public repository</a:t>
            </a:r>
          </a:p>
          <a:p>
            <a:pPr algn="l">
              <a:spcBef>
                <a:spcPts val="300"/>
              </a:spcBef>
              <a:defRPr sz="1400" b="0">
                <a:solidFill>
                  <a:srgbClr val="FFFFFF"/>
                </a:solidFill>
                <a:latin typeface="Calibri"/>
              </a:defRPr>
            </a:pPr>
            <a:r>
              <a:t>•  Not one git command typed</a:t>
            </a:r>
          </a:p>
        </p:txBody>
      </p:sp>
      <p:sp>
        <p:nvSpPr>
          <p:cNvPr id="7" name="TextBox 6"/>
          <p:cNvSpPr txBox="1"/>
          <p:nvPr/>
        </p:nvSpPr>
        <p:spPr>
          <a:xfrm>
            <a:off x="914400" y="5486400"/>
            <a:ext cx="10058400" cy="365760"/>
          </a:xfrm>
          <a:prstGeom prst="rect">
            <a:avLst/>
          </a:prstGeom>
          <a:noFill/>
        </p:spPr>
        <p:txBody>
          <a:bodyPr wrap="square"/>
          <a:lstStyle/>
          <a:p>
            <a:pPr algn="ctr">
              <a:defRPr sz="1600" b="0">
                <a:solidFill>
                  <a:srgbClr val="4ADE80"/>
                </a:solidFill>
                <a:latin typeface="Calibri"/>
              </a:defRPr>
            </a:pPr>
            <a:r>
              <a:t>Context  ·  Communications  ·  Confidence  ·  Constitution  ·  Community</a:t>
            </a:r>
          </a:p>
        </p:txBody>
      </p:sp>
      <p:sp>
        <p:nvSpPr>
          <p:cNvPr id="8" name="TextBox 7"/>
          <p:cNvSpPr txBox="1"/>
          <p:nvPr/>
        </p:nvSpPr>
        <p:spPr>
          <a:xfrm>
            <a:off x="914400" y="5852160"/>
            <a:ext cx="10058400" cy="365760"/>
          </a:xfrm>
          <a:prstGeom prst="rect">
            <a:avLst/>
          </a:prstGeom>
          <a:noFill/>
        </p:spPr>
        <p:txBody>
          <a:bodyPr wrap="square"/>
          <a:lstStyle/>
          <a:p>
            <a:pPr algn="ctr">
              <a:defRPr sz="1800" b="1">
                <a:solidFill>
                  <a:srgbClr val="4ADE80"/>
                </a:solidFill>
                <a:latin typeface="Calibri"/>
              </a:defRPr>
            </a:pPr>
            <a:r>
              <a:t>Equip your AI Harness. Start with Workflow 1 today.</a:t>
            </a:r>
          </a:p>
        </p:txBody>
      </p:sp>
      <p:sp>
        <p:nvSpPr>
          <p:cNvPr id="9" name="TextBox 8"/>
          <p:cNvSpPr txBox="1"/>
          <p:nvPr/>
        </p:nvSpPr>
        <p:spPr>
          <a:xfrm>
            <a:off x="914400" y="6217920"/>
            <a:ext cx="10058400" cy="365760"/>
          </a:xfrm>
          <a:prstGeom prst="rect">
            <a:avLst/>
          </a:prstGeom>
          <a:noFill/>
        </p:spPr>
        <p:txBody>
          <a:bodyPr wrap="square"/>
          <a:lstStyle/>
          <a:p>
            <a:pPr algn="ctr">
              <a:defRPr sz="1400" b="0">
                <a:solidFill>
                  <a:srgbClr val="999999"/>
                </a:solidFill>
                <a:latin typeface="Calibri"/>
              </a:defRPr>
            </a:pPr>
            <a:r>
              <a:t>The library Kenny used is live: github.com/Productside/Productside-Market-Intelligence-Skills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